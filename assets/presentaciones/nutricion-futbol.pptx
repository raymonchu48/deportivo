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3" r:id="rId6"/>
    <p:sldId id="262" r:id="rId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461EE8-746F-4941-AC95-8AB7793F5B92}" v="9" dt="2020-09-09T16:08:10.5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97BA34-44DF-4598-B03C-167011E026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08E5D3C-468B-46F7-8490-BB6C063661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0DE1A3-58AD-4DCF-9B41-D31251D0C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B8E34-BE83-49EA-B020-7CE7C93A0742}" type="datetimeFigureOut">
              <a:rPr lang="es-ES" smtClean="0"/>
              <a:t>30/12/2021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CDCE1D5-4635-42AB-BDCA-281E2E739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5584A31-CB01-46B1-A63E-AE8D06019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4A89D-99D3-4793-8921-A182D9270F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98305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5E8E90-B715-490A-94E6-06F280136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132613-2092-41EB-A93E-C1584119F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A1145E-A2F1-4E61-ADCD-7D38A2C94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B8E34-BE83-49EA-B020-7CE7C93A0742}" type="datetimeFigureOut">
              <a:rPr lang="es-ES" smtClean="0"/>
              <a:t>30/12/2021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E404A0-80FA-4ED8-9BEE-22E2E2C04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80B3406-BAE3-410E-8778-391D9882C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4A89D-99D3-4793-8921-A182D9270F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23617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7F7FE9-CDCD-4A66-90DA-B8A6176C7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5E1D9AA-6E93-4DC4-94A0-09A1C21E43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18EA04-0B40-403B-A08C-BEE82BD93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B8E34-BE83-49EA-B020-7CE7C93A0742}" type="datetimeFigureOut">
              <a:rPr lang="es-ES" smtClean="0"/>
              <a:t>30/12/2021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B69777-6152-4A60-B9E0-E663B1E8A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A17C301-9F1A-49DF-80F8-6BC8BEEA1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4A89D-99D3-4793-8921-A182D9270F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47043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3EC9AA-6B1A-4610-AE9F-E68FF2C77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785D1F-99C3-400D-A0AC-DADD2ABF32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34B2594-544C-496C-BBB1-137C203B3D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C893882-390D-4DD9-81D4-6C261455B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B8E34-BE83-49EA-B020-7CE7C93A0742}" type="datetimeFigureOut">
              <a:rPr lang="es-ES" smtClean="0"/>
              <a:t>30/12/2021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64BE3D7-3518-4CA6-B9ED-C9F7FA0F3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8559841-B029-47E8-ACB1-9CA02DFFA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4A89D-99D3-4793-8921-A182D9270F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3579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A629B7-F1D2-4576-9B04-8290790F7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A799FB0-1D12-40A0-A1F0-97648E967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E4927A2-4455-436A-AE96-D97314B48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12EB83E-0288-45DC-ADBE-2F3840D59F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E58B2C7-53E9-4551-9F03-936FE84DA4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D13800B-F50A-4299-B173-6BAF83555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B8E34-BE83-49EA-B020-7CE7C93A0742}" type="datetimeFigureOut">
              <a:rPr lang="es-ES" smtClean="0"/>
              <a:t>30/12/2021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EA8B9AB-4D32-415C-82C7-BA4BBD772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BA77877-AE42-46A2-9C56-1E9E89249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4A89D-99D3-4793-8921-A182D9270F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94378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114136-D1C8-4DAA-BA36-331D6809D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B308513-EF2C-4DA9-A3E4-40ABEC679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B8E34-BE83-49EA-B020-7CE7C93A0742}" type="datetimeFigureOut">
              <a:rPr lang="es-ES" smtClean="0"/>
              <a:t>30/12/2021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A528C05-5975-460D-AACF-ABDA2E91E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7C77367-5733-4388-A484-FE6B4045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4A89D-99D3-4793-8921-A182D9270F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61372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ED237D5-589F-4BDD-9E30-F83819B7D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B8E34-BE83-49EA-B020-7CE7C93A0742}" type="datetimeFigureOut">
              <a:rPr lang="es-ES" smtClean="0"/>
              <a:t>30/12/2021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D129960-C97F-48D7-976D-C59D416FC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FF5C5B8-80E9-4CB1-BFFB-94E5A658B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4A89D-99D3-4793-8921-A182D9270F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16040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22F5C8-E9A1-4010-B0E8-635263609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C7C3E0-D0E4-42AB-BE42-9C404EF6F3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194849D-7C21-423C-97EC-5F3FCA2F8F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5770FFB-042D-4234-9396-724856AA7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B8E34-BE83-49EA-B020-7CE7C93A0742}" type="datetimeFigureOut">
              <a:rPr lang="es-ES" smtClean="0"/>
              <a:t>30/12/2021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DABA48C-55DF-42D0-8EF6-BEA8A13F2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694B3C8-2C0D-46AA-8368-F5046376B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4A89D-99D3-4793-8921-A182D9270F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0645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AAE800-EFD3-48D1-92FE-73BDDC492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12B8A3A-E4B6-4051-A4F0-CE2B4630D2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D5D15CF-DA8E-44ED-9894-2487C49B64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E28072C-F820-46E6-95B4-DD45D1E12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B8E34-BE83-49EA-B020-7CE7C93A0742}" type="datetimeFigureOut">
              <a:rPr lang="es-ES" smtClean="0"/>
              <a:t>30/12/2021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C1DBF70-D9C8-4551-B135-7C870F4AB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6510750-A962-400E-A0A7-47B38B2D3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4A89D-99D3-4793-8921-A182D9270F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85312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DC03F6-361F-44AB-8ED1-AB48F977C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FFDE480-D3D8-4EA5-BEA7-F62F7A8A48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FEEB1D6-37AF-439F-AEE4-CF05BE227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B8E34-BE83-49EA-B020-7CE7C93A0742}" type="datetimeFigureOut">
              <a:rPr lang="es-ES" smtClean="0"/>
              <a:t>30/12/2021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0CF5ADF-FCA9-4870-AEE9-CF121C0C7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3315B6-3478-42E6-8D70-EAD041C2A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4A89D-99D3-4793-8921-A182D9270F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01385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4D04125-43DD-43FE-A991-5EE82AD5BE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16AE3A7-DDEC-4D13-9A66-46C7A861CA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61CC70-FE4E-423E-B56A-BBA271E7B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B8E34-BE83-49EA-B020-7CE7C93A0742}" type="datetimeFigureOut">
              <a:rPr lang="es-ES" smtClean="0"/>
              <a:t>30/12/2021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A6A60E-9008-41E5-B926-DC92D9DC6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D753F86-8653-4BB3-BB91-0A3409C78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4A89D-99D3-4793-8921-A182D9270F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6811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6CDEE4B-0D4D-40FC-BAEC-9D4D3F643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39188D3-FB0D-426C-8C70-566250C2F4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6B61B1-EE76-4EE0-94EF-140A000947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8B8E34-BE83-49EA-B020-7CE7C93A0742}" type="datetimeFigureOut">
              <a:rPr lang="es-ES" smtClean="0"/>
              <a:t>30/12/2021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819F3E-D50A-4377-BD54-767CF86E00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BA8D12-7B15-4FB6-B295-B2915B55F4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94A89D-99D3-4793-8921-A182D9270F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94596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3962611-DFD5-4092-AAFD-559E3DFCE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488" y="0"/>
            <a:ext cx="10910292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270F1FA-0425-408F-9861-80BF5AFB2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53A65FD-1C50-4314-9A28-28EE79929F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5368" y="2043663"/>
            <a:ext cx="6105194" cy="2031055"/>
          </a:xfrm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</a:rPr>
              <a:t>Alimentación para jugar Fútbol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111F3A3-9389-4A70-878E-0B4367A94A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5368" y="4074718"/>
            <a:ext cx="6105194" cy="682079"/>
          </a:xfrm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</a:rPr>
              <a:t>Comer sano y equilibrado es de 10</a:t>
            </a:r>
          </a:p>
        </p:txBody>
      </p:sp>
    </p:spTree>
    <p:extLst>
      <p:ext uri="{BB962C8B-B14F-4D97-AF65-F5344CB8AC3E}">
        <p14:creationId xmlns:p14="http://schemas.microsoft.com/office/powerpoint/2010/main" val="996246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F4C0B10B-D2C4-4A54-AFAD-3D27DF88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6BADB90-C74B-40D6-86DC-503F65FCE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9710" y="635715"/>
            <a:ext cx="11142208" cy="2482136"/>
            <a:chOff x="409710" y="635715"/>
            <a:chExt cx="11142208" cy="2482136"/>
          </a:xfrm>
        </p:grpSpPr>
        <p:sp>
          <p:nvSpPr>
            <p:cNvPr id="23" name="Freeform 44">
              <a:extLst>
                <a:ext uri="{FF2B5EF4-FFF2-40B4-BE49-F238E27FC236}">
                  <a16:creationId xmlns:a16="http://schemas.microsoft.com/office/drawing/2014/main" id="{6559431D-1886-4AE0-9B87-9AD2ECAB84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23203" y="635716"/>
              <a:ext cx="328612" cy="1742360"/>
            </a:xfrm>
            <a:custGeom>
              <a:avLst/>
              <a:gdLst>
                <a:gd name="T0" fmla="*/ 207 w 207"/>
                <a:gd name="T1" fmla="*/ 987 h 1114"/>
                <a:gd name="T2" fmla="*/ 0 w 207"/>
                <a:gd name="T3" fmla="*/ 1114 h 1114"/>
                <a:gd name="T4" fmla="*/ 0 w 207"/>
                <a:gd name="T5" fmla="*/ 127 h 1114"/>
                <a:gd name="T6" fmla="*/ 207 w 207"/>
                <a:gd name="T7" fmla="*/ 0 h 1114"/>
                <a:gd name="T8" fmla="*/ 207 w 207"/>
                <a:gd name="T9" fmla="*/ 987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7" h="1114">
                  <a:moveTo>
                    <a:pt x="207" y="987"/>
                  </a:moveTo>
                  <a:lnTo>
                    <a:pt x="0" y="1114"/>
                  </a:lnTo>
                  <a:lnTo>
                    <a:pt x="0" y="127"/>
                  </a:lnTo>
                  <a:lnTo>
                    <a:pt x="207" y="0"/>
                  </a:lnTo>
                  <a:lnTo>
                    <a:pt x="207" y="987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45">
              <a:extLst>
                <a:ext uri="{FF2B5EF4-FFF2-40B4-BE49-F238E27FC236}">
                  <a16:creationId xmlns:a16="http://schemas.microsoft.com/office/drawing/2014/main" id="{373850A5-B04A-4FCD-9E73-EE322167FB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1022350"/>
              <a:ext cx="709612" cy="2095501"/>
            </a:xfrm>
            <a:custGeom>
              <a:avLst/>
              <a:gdLst>
                <a:gd name="T0" fmla="*/ 447 w 447"/>
                <a:gd name="T1" fmla="*/ 1363 h 1363"/>
                <a:gd name="T2" fmla="*/ 0 w 447"/>
                <a:gd name="T3" fmla="*/ 987 h 1363"/>
                <a:gd name="T4" fmla="*/ 0 w 447"/>
                <a:gd name="T5" fmla="*/ 0 h 1363"/>
                <a:gd name="T6" fmla="*/ 447 w 447"/>
                <a:gd name="T7" fmla="*/ 376 h 1363"/>
                <a:gd name="T8" fmla="*/ 447 w 447"/>
                <a:gd name="T9" fmla="*/ 1363 h 1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7" h="1363">
                  <a:moveTo>
                    <a:pt x="447" y="1363"/>
                  </a:moveTo>
                  <a:lnTo>
                    <a:pt x="0" y="987"/>
                  </a:lnTo>
                  <a:lnTo>
                    <a:pt x="0" y="0"/>
                  </a:lnTo>
                  <a:lnTo>
                    <a:pt x="447" y="376"/>
                  </a:lnTo>
                  <a:lnTo>
                    <a:pt x="447" y="1363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46">
              <a:extLst>
                <a:ext uri="{FF2B5EF4-FFF2-40B4-BE49-F238E27FC236}">
                  <a16:creationId xmlns:a16="http://schemas.microsoft.com/office/drawing/2014/main" id="{82C18C67-80FA-4738-AA53-0AF2419F98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837744"/>
              <a:ext cx="403225" cy="1705431"/>
            </a:xfrm>
            <a:custGeom>
              <a:avLst/>
              <a:gdLst>
                <a:gd name="T0" fmla="*/ 254 w 254"/>
                <a:gd name="T1" fmla="*/ 987 h 1109"/>
                <a:gd name="T2" fmla="*/ 0 w 254"/>
                <a:gd name="T3" fmla="*/ 1109 h 1109"/>
                <a:gd name="T4" fmla="*/ 0 w 254"/>
                <a:gd name="T5" fmla="*/ 119 h 1109"/>
                <a:gd name="T6" fmla="*/ 254 w 254"/>
                <a:gd name="T7" fmla="*/ 0 h 1109"/>
                <a:gd name="T8" fmla="*/ 254 w 254"/>
                <a:gd name="T9" fmla="*/ 987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1109">
                  <a:moveTo>
                    <a:pt x="254" y="987"/>
                  </a:moveTo>
                  <a:lnTo>
                    <a:pt x="0" y="1109"/>
                  </a:lnTo>
                  <a:lnTo>
                    <a:pt x="0" y="119"/>
                  </a:lnTo>
                  <a:lnTo>
                    <a:pt x="254" y="0"/>
                  </a:lnTo>
                  <a:lnTo>
                    <a:pt x="254" y="987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47">
              <a:extLst>
                <a:ext uri="{FF2B5EF4-FFF2-40B4-BE49-F238E27FC236}">
                  <a16:creationId xmlns:a16="http://schemas.microsoft.com/office/drawing/2014/main" id="{48543B1A-8BF5-4C63-8404-41B2EA70B3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660" y="640894"/>
              <a:ext cx="168275" cy="1713195"/>
            </a:xfrm>
            <a:custGeom>
              <a:avLst/>
              <a:gdLst>
                <a:gd name="T0" fmla="*/ 106 w 106"/>
                <a:gd name="T1" fmla="*/ 1114 h 1114"/>
                <a:gd name="T2" fmla="*/ 0 w 106"/>
                <a:gd name="T3" fmla="*/ 1005 h 1114"/>
                <a:gd name="T4" fmla="*/ 0 w 106"/>
                <a:gd name="T5" fmla="*/ 0 h 1114"/>
                <a:gd name="T6" fmla="*/ 106 w 106"/>
                <a:gd name="T7" fmla="*/ 110 h 1114"/>
                <a:gd name="T8" fmla="*/ 106 w 106"/>
                <a:gd name="T9" fmla="*/ 1114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1114">
                  <a:moveTo>
                    <a:pt x="106" y="1114"/>
                  </a:moveTo>
                  <a:lnTo>
                    <a:pt x="0" y="1005"/>
                  </a:lnTo>
                  <a:lnTo>
                    <a:pt x="0" y="0"/>
                  </a:lnTo>
                  <a:lnTo>
                    <a:pt x="106" y="110"/>
                  </a:lnTo>
                  <a:lnTo>
                    <a:pt x="106" y="111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2DF5096-E051-498C-A3ED-CBA77A813A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055" y="635715"/>
              <a:ext cx="10907863" cy="154145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902B3F4-7252-4B69-94BF-30BD21225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280" y="759805"/>
            <a:ext cx="1030652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Come….Come…. Y </a:t>
            </a:r>
            <a:r>
              <a:rPr lang="en-US" sz="4000" dirty="0" err="1">
                <a:solidFill>
                  <a:srgbClr val="FFFFFF"/>
                </a:solidFill>
              </a:rPr>
              <a:t>Juega</a:t>
            </a:r>
            <a:r>
              <a:rPr lang="en-US" sz="4000" dirty="0">
                <a:solidFill>
                  <a:srgbClr val="FFFFFF"/>
                </a:solidFill>
              </a:rPr>
              <a:t>……..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BCD4A14-2238-4F2A-B272-21EB73000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24904" y="2494450"/>
            <a:ext cx="4053545" cy="384008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500" dirty="0" err="1"/>
              <a:t>Cuando</a:t>
            </a:r>
            <a:r>
              <a:rPr lang="en-US" sz="1500" dirty="0"/>
              <a:t> se </a:t>
            </a:r>
            <a:r>
              <a:rPr lang="en-US" sz="1500" dirty="0" err="1"/>
              <a:t>realiza</a:t>
            </a:r>
            <a:r>
              <a:rPr lang="en-US" sz="1500" dirty="0"/>
              <a:t> una </a:t>
            </a:r>
            <a:r>
              <a:rPr lang="en-US" sz="1500" dirty="0" err="1"/>
              <a:t>practica</a:t>
            </a:r>
            <a:r>
              <a:rPr lang="en-US" sz="1500" dirty="0"/>
              <a:t> </a:t>
            </a:r>
            <a:r>
              <a:rPr lang="en-US" sz="1500" dirty="0" err="1"/>
              <a:t>deportiva</a:t>
            </a:r>
            <a:r>
              <a:rPr lang="en-US" sz="1500" dirty="0"/>
              <a:t> </a:t>
            </a:r>
            <a:r>
              <a:rPr lang="en-US" sz="1500" dirty="0" err="1"/>
              <a:t>como</a:t>
            </a:r>
            <a:r>
              <a:rPr lang="en-US" sz="1500" dirty="0"/>
              <a:t> el </a:t>
            </a:r>
            <a:r>
              <a:rPr lang="en-US" sz="1500" dirty="0" err="1"/>
              <a:t>fútbol</a:t>
            </a:r>
            <a:r>
              <a:rPr lang="en-US" sz="1500" dirty="0"/>
              <a:t> se debe </a:t>
            </a:r>
            <a:r>
              <a:rPr lang="en-US" sz="1500" dirty="0" err="1"/>
              <a:t>incrementar</a:t>
            </a:r>
            <a:r>
              <a:rPr lang="en-US" sz="1500" dirty="0"/>
              <a:t> la ingesta de comida para </a:t>
            </a:r>
            <a:r>
              <a:rPr lang="en-US" sz="1500" dirty="0" err="1"/>
              <a:t>poder</a:t>
            </a:r>
            <a:r>
              <a:rPr lang="en-US" sz="1500" dirty="0"/>
              <a:t> </a:t>
            </a:r>
            <a:r>
              <a:rPr lang="en-US" sz="1500" dirty="0" err="1"/>
              <a:t>reponer</a:t>
            </a:r>
            <a:r>
              <a:rPr lang="en-US" sz="1500" dirty="0"/>
              <a:t> el </a:t>
            </a:r>
            <a:r>
              <a:rPr lang="en-US" sz="1500" dirty="0" err="1"/>
              <a:t>gasto</a:t>
            </a:r>
            <a:r>
              <a:rPr lang="en-US" sz="1500" dirty="0"/>
              <a:t> que </a:t>
            </a:r>
            <a:r>
              <a:rPr lang="en-US" sz="1500" dirty="0" err="1"/>
              <a:t>esto</a:t>
            </a:r>
            <a:r>
              <a:rPr lang="en-US" sz="1500" dirty="0"/>
              <a:t> </a:t>
            </a:r>
            <a:r>
              <a:rPr lang="en-US" sz="1500" dirty="0" err="1"/>
              <a:t>supone</a:t>
            </a:r>
            <a:r>
              <a:rPr lang="en-US" sz="1500" dirty="0"/>
              <a:t> </a:t>
            </a:r>
            <a:r>
              <a:rPr lang="en-US" sz="1500" dirty="0" err="1"/>
              <a:t>ya</a:t>
            </a:r>
            <a:r>
              <a:rPr lang="en-US" sz="1500" dirty="0"/>
              <a:t> que se </a:t>
            </a:r>
            <a:r>
              <a:rPr lang="en-US" sz="1500" dirty="0" err="1"/>
              <a:t>encuentran</a:t>
            </a:r>
            <a:r>
              <a:rPr lang="en-US" sz="1500" dirty="0"/>
              <a:t> </a:t>
            </a:r>
            <a:r>
              <a:rPr lang="en-US" sz="1500" dirty="0" err="1"/>
              <a:t>en</a:t>
            </a:r>
            <a:r>
              <a:rPr lang="en-US" sz="1500" dirty="0"/>
              <a:t> </a:t>
            </a:r>
            <a:r>
              <a:rPr lang="en-US" sz="1500" dirty="0" err="1"/>
              <a:t>pleno</a:t>
            </a:r>
            <a:r>
              <a:rPr lang="en-US" sz="1500" dirty="0"/>
              <a:t> </a:t>
            </a:r>
            <a:r>
              <a:rPr lang="en-US" sz="1500" dirty="0" err="1"/>
              <a:t>crecimiento</a:t>
            </a:r>
            <a:r>
              <a:rPr lang="en-US" sz="1500" dirty="0"/>
              <a:t>.</a:t>
            </a:r>
          </a:p>
          <a:p>
            <a:r>
              <a:rPr lang="en-US" sz="1500" dirty="0" err="1"/>
              <a:t>Niños</a:t>
            </a:r>
            <a:r>
              <a:rPr lang="en-US" sz="1500" dirty="0"/>
              <a:t> de 7 a 12 </a:t>
            </a:r>
            <a:r>
              <a:rPr lang="en-US" sz="1500" dirty="0" err="1"/>
              <a:t>años</a:t>
            </a:r>
            <a:r>
              <a:rPr lang="en-US" sz="1500" dirty="0"/>
              <a:t> </a:t>
            </a:r>
            <a:r>
              <a:rPr lang="en-US" sz="1500" dirty="0" err="1"/>
              <a:t>tienen</a:t>
            </a:r>
            <a:r>
              <a:rPr lang="en-US" sz="1500" dirty="0"/>
              <a:t> un </a:t>
            </a:r>
            <a:r>
              <a:rPr lang="en-US" sz="1500" dirty="0" err="1"/>
              <a:t>gasto</a:t>
            </a:r>
            <a:r>
              <a:rPr lang="en-US" sz="1500" dirty="0"/>
              <a:t> </a:t>
            </a:r>
            <a:r>
              <a:rPr lang="en-US" sz="1500" dirty="0" err="1"/>
              <a:t>aproximado</a:t>
            </a:r>
            <a:r>
              <a:rPr lang="en-US" sz="1500" dirty="0"/>
              <a:t> de 2000 kcal x </a:t>
            </a:r>
            <a:r>
              <a:rPr lang="en-US" sz="1500" dirty="0" err="1"/>
              <a:t>día</a:t>
            </a:r>
            <a:r>
              <a:rPr lang="en-US" sz="1500" dirty="0"/>
              <a:t>.</a:t>
            </a:r>
          </a:p>
          <a:p>
            <a:r>
              <a:rPr lang="en-US" sz="1500" dirty="0"/>
              <a:t>Hay que </a:t>
            </a:r>
            <a:r>
              <a:rPr lang="en-US" sz="1500" dirty="0" err="1"/>
              <a:t>aportar</a:t>
            </a:r>
            <a:r>
              <a:rPr lang="en-US" sz="1500" dirty="0"/>
              <a:t> medio </a:t>
            </a:r>
            <a:r>
              <a:rPr lang="en-US" sz="1500" dirty="0" err="1"/>
              <a:t>litro</a:t>
            </a:r>
            <a:r>
              <a:rPr lang="en-US" sz="1500" dirty="0"/>
              <a:t> de leche al </a:t>
            </a:r>
            <a:r>
              <a:rPr lang="en-US" sz="1500" dirty="0" err="1"/>
              <a:t>día</a:t>
            </a:r>
            <a:r>
              <a:rPr lang="en-US" sz="1500" dirty="0"/>
              <a:t>.  </a:t>
            </a:r>
            <a:r>
              <a:rPr lang="en-US" sz="1500" dirty="0" err="1"/>
              <a:t>Incluir</a:t>
            </a:r>
            <a:r>
              <a:rPr lang="en-US" sz="1500" dirty="0"/>
              <a:t> </a:t>
            </a:r>
            <a:r>
              <a:rPr lang="en-US" sz="1500" dirty="0" err="1"/>
              <a:t>alimentos</a:t>
            </a:r>
            <a:r>
              <a:rPr lang="en-US" sz="1500" dirty="0"/>
              <a:t> </a:t>
            </a:r>
            <a:r>
              <a:rPr lang="en-US" sz="1500" dirty="0" err="1"/>
              <a:t>ricos</a:t>
            </a:r>
            <a:r>
              <a:rPr lang="en-US" sz="1500" dirty="0"/>
              <a:t> </a:t>
            </a:r>
            <a:r>
              <a:rPr lang="en-US" sz="1500" dirty="0" err="1"/>
              <a:t>en</a:t>
            </a:r>
            <a:r>
              <a:rPr lang="en-US" sz="1500" dirty="0"/>
              <a:t> </a:t>
            </a:r>
            <a:r>
              <a:rPr lang="en-US" sz="1500" dirty="0" err="1"/>
              <a:t>fibra</a:t>
            </a:r>
            <a:r>
              <a:rPr lang="en-US" sz="1500" dirty="0"/>
              <a:t> , </a:t>
            </a:r>
            <a:r>
              <a:rPr lang="en-US" sz="1500" dirty="0" err="1"/>
              <a:t>Evitar</a:t>
            </a:r>
            <a:r>
              <a:rPr lang="en-US" sz="1500" dirty="0"/>
              <a:t> </a:t>
            </a:r>
            <a:r>
              <a:rPr lang="en-US" sz="1500" dirty="0" err="1"/>
              <a:t>grasas</a:t>
            </a:r>
            <a:r>
              <a:rPr lang="en-US" sz="1500" dirty="0"/>
              <a:t> </a:t>
            </a:r>
            <a:r>
              <a:rPr lang="en-US" sz="1500" dirty="0" err="1"/>
              <a:t>animales</a:t>
            </a:r>
            <a:r>
              <a:rPr lang="en-US" sz="1500" dirty="0"/>
              <a:t> .</a:t>
            </a:r>
            <a:r>
              <a:rPr lang="en-US" sz="1500" dirty="0" err="1"/>
              <a:t>Evitar</a:t>
            </a:r>
            <a:r>
              <a:rPr lang="en-US" sz="1500" dirty="0"/>
              <a:t> los </a:t>
            </a:r>
            <a:r>
              <a:rPr lang="en-US" sz="1500" dirty="0" err="1"/>
              <a:t>fritos</a:t>
            </a:r>
            <a:r>
              <a:rPr lang="en-US" sz="1500" dirty="0"/>
              <a:t> y </a:t>
            </a:r>
            <a:r>
              <a:rPr lang="en-US" sz="1500" dirty="0" err="1"/>
              <a:t>precocinados</a:t>
            </a:r>
            <a:r>
              <a:rPr lang="en-US" sz="1500" dirty="0"/>
              <a:t>. </a:t>
            </a:r>
            <a:r>
              <a:rPr lang="en-US" sz="1500" dirty="0" err="1"/>
              <a:t>Excluir</a:t>
            </a:r>
            <a:r>
              <a:rPr lang="en-US" sz="1500" dirty="0"/>
              <a:t> lo </a:t>
            </a:r>
            <a:r>
              <a:rPr lang="en-US" sz="1500" dirty="0" err="1"/>
              <a:t>máximo</a:t>
            </a:r>
            <a:r>
              <a:rPr lang="en-US" sz="1500" dirty="0"/>
              <a:t> </a:t>
            </a:r>
            <a:r>
              <a:rPr lang="en-US" sz="1500" dirty="0" err="1"/>
              <a:t>posible</a:t>
            </a:r>
            <a:r>
              <a:rPr lang="en-US" sz="1500" dirty="0"/>
              <a:t> </a:t>
            </a:r>
            <a:r>
              <a:rPr lang="en-US" sz="1500" dirty="0" err="1"/>
              <a:t>colorantes</a:t>
            </a:r>
            <a:r>
              <a:rPr lang="en-US" sz="1500" dirty="0"/>
              <a:t> y </a:t>
            </a:r>
            <a:r>
              <a:rPr lang="en-US" sz="1500" dirty="0" err="1"/>
              <a:t>conservantes</a:t>
            </a:r>
            <a:r>
              <a:rPr lang="en-US" sz="1500" dirty="0"/>
              <a:t> . No </a:t>
            </a:r>
            <a:r>
              <a:rPr lang="en-US" sz="1500" dirty="0" err="1"/>
              <a:t>sustituir</a:t>
            </a:r>
            <a:r>
              <a:rPr lang="en-US" sz="1500" dirty="0"/>
              <a:t> la </a:t>
            </a:r>
            <a:r>
              <a:rPr lang="en-US" sz="1500" dirty="0" err="1"/>
              <a:t>fruta</a:t>
            </a:r>
            <a:r>
              <a:rPr lang="en-US" sz="1500" dirty="0"/>
              <a:t> fresca por </a:t>
            </a:r>
            <a:r>
              <a:rPr lang="en-US" sz="1500" dirty="0" err="1"/>
              <a:t>zumos</a:t>
            </a:r>
            <a:r>
              <a:rPr lang="en-US" sz="1500" dirty="0"/>
              <a:t> . Las </a:t>
            </a:r>
            <a:r>
              <a:rPr lang="en-US" sz="1500" dirty="0" err="1"/>
              <a:t>tartas</a:t>
            </a:r>
            <a:r>
              <a:rPr lang="en-US" sz="1500" dirty="0"/>
              <a:t> y los </a:t>
            </a:r>
            <a:r>
              <a:rPr lang="en-US" sz="1500" dirty="0" err="1"/>
              <a:t>dulces</a:t>
            </a:r>
            <a:r>
              <a:rPr lang="en-US" sz="1500" dirty="0"/>
              <a:t>, </a:t>
            </a:r>
            <a:r>
              <a:rPr lang="en-US" sz="1500" dirty="0" err="1"/>
              <a:t>si</a:t>
            </a:r>
            <a:r>
              <a:rPr lang="en-US" sz="1500" dirty="0"/>
              <a:t> </a:t>
            </a:r>
            <a:r>
              <a:rPr lang="en-US" sz="1500" dirty="0" err="1"/>
              <a:t>pueden</a:t>
            </a:r>
            <a:r>
              <a:rPr lang="en-US" sz="1500" dirty="0"/>
              <a:t> ser </a:t>
            </a:r>
            <a:r>
              <a:rPr lang="en-US" sz="1500" dirty="0" err="1"/>
              <a:t>caseros</a:t>
            </a:r>
            <a:r>
              <a:rPr lang="en-US" sz="1500" dirty="0"/>
              <a:t> </a:t>
            </a:r>
            <a:r>
              <a:rPr lang="en-US" sz="1500" dirty="0" err="1"/>
              <a:t>muchísimo</a:t>
            </a:r>
            <a:r>
              <a:rPr lang="en-US" sz="1500" dirty="0"/>
              <a:t> major.</a:t>
            </a: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CEDD30CA-CD17-43E2-B675-DD747C7C58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040"/>
          <a:stretch/>
        </p:blipFill>
        <p:spPr>
          <a:xfrm>
            <a:off x="6098892" y="2492376"/>
            <a:ext cx="5099196" cy="3563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824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9245A10-7F37-4569-80D2-2F692931E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8">
            <a:extLst>
              <a:ext uri="{FF2B5EF4-FFF2-40B4-BE49-F238E27FC236}">
                <a16:creationId xmlns:a16="http://schemas.microsoft.com/office/drawing/2014/main" id="{9267F70F-11C6-4597-9381-D0D80FC18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06152" y="2355786"/>
            <a:ext cx="4985748" cy="35310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AF9AF31-2EA8-453F-AEE1-587C09118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9812" y="2723322"/>
            <a:ext cx="3510355" cy="223673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400">
                <a:solidFill>
                  <a:srgbClr val="FFFFFF"/>
                </a:solidFill>
                <a:effectLst/>
              </a:rPr>
              <a:t>Se deben de realizar cinco comidas al día. De ellas tres deben ser más fuertes porque aportan energía y nutrientes, el desayuno, la comida de mediodía y la cena. Las otras dos comidas son de sostén y más ligeras. </a:t>
            </a:r>
            <a:r>
              <a:rPr lang="en-US" sz="1400">
                <a:solidFill>
                  <a:srgbClr val="FFFFFF"/>
                </a:solidFill>
              </a:rPr>
              <a:t>D</a:t>
            </a:r>
            <a:r>
              <a:rPr lang="en-US" sz="1400">
                <a:solidFill>
                  <a:srgbClr val="FFFFFF"/>
                </a:solidFill>
                <a:effectLst/>
              </a:rPr>
              <a:t>eben ser comidas complementarias y en ellas se pueden aportar aquellos alimentos que requieren un mayor número de raciones diarias, como son la leche, la fruta y los cereales.</a:t>
            </a:r>
            <a:br>
              <a:rPr lang="en-US" sz="1400">
                <a:solidFill>
                  <a:srgbClr val="FFFFFF"/>
                </a:solidFill>
                <a:effectLst/>
              </a:rPr>
            </a:br>
            <a:endParaRPr lang="en-US" sz="1400">
              <a:solidFill>
                <a:srgbClr val="FFFFFF"/>
              </a:solidFill>
            </a:endParaRPr>
          </a:p>
        </p:txBody>
      </p:sp>
      <p:sp>
        <p:nvSpPr>
          <p:cNvPr id="27" name="Freeform 5">
            <a:extLst>
              <a:ext uri="{FF2B5EF4-FFF2-40B4-BE49-F238E27FC236}">
                <a16:creationId xmlns:a16="http://schemas.microsoft.com/office/drawing/2014/main" id="{2C20A93E-E407-4683-A405-147DE26132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09782" y="1654168"/>
            <a:ext cx="822493" cy="4232692"/>
          </a:xfrm>
          <a:custGeom>
            <a:avLst/>
            <a:gdLst>
              <a:gd name="T0" fmla="*/ 491 w 491"/>
              <a:gd name="T1" fmla="*/ 2247 h 2732"/>
              <a:gd name="T2" fmla="*/ 0 w 491"/>
              <a:gd name="T3" fmla="*/ 2732 h 2732"/>
              <a:gd name="T4" fmla="*/ 0 w 491"/>
              <a:gd name="T5" fmla="*/ 486 h 2732"/>
              <a:gd name="T6" fmla="*/ 491 w 491"/>
              <a:gd name="T7" fmla="*/ 0 h 2732"/>
              <a:gd name="T8" fmla="*/ 491 w 491"/>
              <a:gd name="T9" fmla="*/ 2247 h 27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91" h="2732">
                <a:moveTo>
                  <a:pt x="491" y="2247"/>
                </a:moveTo>
                <a:lnTo>
                  <a:pt x="0" y="2732"/>
                </a:lnTo>
                <a:lnTo>
                  <a:pt x="0" y="486"/>
                </a:lnTo>
                <a:lnTo>
                  <a:pt x="491" y="0"/>
                </a:lnTo>
                <a:lnTo>
                  <a:pt x="491" y="224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Freeform 6">
            <a:extLst>
              <a:ext uri="{FF2B5EF4-FFF2-40B4-BE49-F238E27FC236}">
                <a16:creationId xmlns:a16="http://schemas.microsoft.com/office/drawing/2014/main" id="{9E8E3DD9-D235-48D9-A0EC-D6817EC84B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544520" y="1311136"/>
            <a:ext cx="687754" cy="3820236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" name="Freeform 7">
            <a:extLst>
              <a:ext uri="{FF2B5EF4-FFF2-40B4-BE49-F238E27FC236}">
                <a16:creationId xmlns:a16="http://schemas.microsoft.com/office/drawing/2014/main" id="{EA83A145-578D-4A0B-94A7-AEAB2027D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544520" y="1126737"/>
            <a:ext cx="347200" cy="3699705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Marcador de posición de imagen 5" descr="Imagen que contiene fruta&#10;&#10;Descripción generada automáticamente">
            <a:extLst>
              <a:ext uri="{FF2B5EF4-FFF2-40B4-BE49-F238E27FC236}">
                <a16:creationId xmlns:a16="http://schemas.microsoft.com/office/drawing/2014/main" id="{349F62D3-A366-4415-ADFC-CA0129F013E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43" r="3" b="4046"/>
          <a:stretch/>
        </p:blipFill>
        <p:spPr>
          <a:xfrm>
            <a:off x="1258859" y="1120046"/>
            <a:ext cx="5635819" cy="3509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198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4038CB10-1F5C-4D54-9DF7-12586DE5B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546" y="4572000"/>
            <a:ext cx="7058307" cy="1964266"/>
          </a:xfrm>
          <a:prstGeom prst="rect">
            <a:avLst/>
          </a:prstGeom>
          <a:solidFill>
            <a:srgbClr val="5F458B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F6245F6-3B20-4C08-B252-C31A28FBC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56" y="4767072"/>
            <a:ext cx="6594189" cy="16252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4400" dirty="0">
                <a:solidFill>
                  <a:srgbClr val="FFFFFF"/>
                </a:solidFill>
              </a:rPr>
              <a:t>MI DESAYUNO</a:t>
            </a:r>
          </a:p>
        </p:txBody>
      </p:sp>
      <p:pic>
        <p:nvPicPr>
          <p:cNvPr id="6" name="Marcador de contenido 5" descr="Imagen que contiene alimentos, tabla, azul, fruta&#10;&#10;Descripción generada automáticamente">
            <a:extLst>
              <a:ext uri="{FF2B5EF4-FFF2-40B4-BE49-F238E27FC236}">
                <a16:creationId xmlns:a16="http://schemas.microsoft.com/office/drawing/2014/main" id="{F032DA6E-9C58-4A4A-BEDD-3E33D1CBFF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8"/>
          <a:stretch/>
        </p:blipFill>
        <p:spPr>
          <a:xfrm>
            <a:off x="327547" y="321733"/>
            <a:ext cx="7058306" cy="4107392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73ED6512-6858-4552-B699-9A97FE9A4E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5" y="321732"/>
            <a:ext cx="4335613" cy="6214534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C60BD28-AC27-4D11-81BD-7A0A2BB6FA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807569" y="478302"/>
            <a:ext cx="3860175" cy="573961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300" dirty="0">
                <a:solidFill>
                  <a:srgbClr val="FFFFFF"/>
                </a:solidFill>
                <a:effectLst/>
              </a:rPr>
              <a:t>El </a:t>
            </a:r>
            <a:r>
              <a:rPr lang="en-US" sz="1300" dirty="0" err="1">
                <a:solidFill>
                  <a:srgbClr val="FFFFFF"/>
                </a:solidFill>
                <a:effectLst/>
              </a:rPr>
              <a:t>desayuno</a:t>
            </a:r>
            <a:r>
              <a:rPr lang="en-US" sz="1300" dirty="0">
                <a:solidFill>
                  <a:srgbClr val="FFFFFF"/>
                </a:solidFill>
                <a:effectLst/>
              </a:rPr>
              <a:t> es </a:t>
            </a:r>
            <a:r>
              <a:rPr lang="en-US" sz="1300" dirty="0" err="1">
                <a:solidFill>
                  <a:srgbClr val="FFFFFF"/>
                </a:solidFill>
                <a:effectLst/>
              </a:rPr>
              <a:t>importantísimo</a:t>
            </a:r>
            <a:r>
              <a:rPr lang="en-US" sz="1300" dirty="0">
                <a:solidFill>
                  <a:srgbClr val="FFFFFF"/>
                </a:solidFill>
                <a:effectLst/>
              </a:rPr>
              <a:t> para </a:t>
            </a:r>
            <a:r>
              <a:rPr lang="en-US" sz="1300" dirty="0" err="1">
                <a:solidFill>
                  <a:srgbClr val="FFFFFF"/>
                </a:solidFill>
                <a:effectLst/>
              </a:rPr>
              <a:t>empezar</a:t>
            </a:r>
            <a:r>
              <a:rPr lang="en-US" sz="1300" dirty="0">
                <a:solidFill>
                  <a:srgbClr val="FFFFFF"/>
                </a:solidFill>
                <a:effectLst/>
              </a:rPr>
              <a:t> con </a:t>
            </a:r>
            <a:r>
              <a:rPr lang="en-US" sz="1300" dirty="0" err="1">
                <a:solidFill>
                  <a:srgbClr val="FFFFFF"/>
                </a:solidFill>
                <a:effectLst/>
              </a:rPr>
              <a:t>buen</a:t>
            </a:r>
            <a:r>
              <a:rPr lang="en-US" sz="1300" dirty="0">
                <a:solidFill>
                  <a:srgbClr val="FFFFFF"/>
                </a:solidFill>
                <a:effectLst/>
              </a:rPr>
              <a:t> pie </a:t>
            </a:r>
            <a:r>
              <a:rPr lang="en-US" sz="1300" dirty="0" err="1">
                <a:solidFill>
                  <a:srgbClr val="FFFFFF"/>
                </a:solidFill>
                <a:effectLst/>
              </a:rPr>
              <a:t>nuestro</a:t>
            </a:r>
            <a:r>
              <a:rPr lang="en-US" sz="1300" dirty="0">
                <a:solidFill>
                  <a:srgbClr val="FFFFFF"/>
                </a:solidFill>
                <a:effectLst/>
              </a:rPr>
              <a:t> </a:t>
            </a:r>
            <a:r>
              <a:rPr lang="en-US" sz="1300" dirty="0" err="1">
                <a:solidFill>
                  <a:srgbClr val="FFFFFF"/>
                </a:solidFill>
                <a:effectLst/>
              </a:rPr>
              <a:t>día</a:t>
            </a:r>
            <a:r>
              <a:rPr lang="en-US" sz="1300" dirty="0">
                <a:solidFill>
                  <a:srgbClr val="FFFFFF"/>
                </a:solidFill>
                <a:effectLst/>
              </a:rPr>
              <a:t>, y para que </a:t>
            </a:r>
            <a:r>
              <a:rPr lang="en-US" sz="1300" dirty="0" err="1">
                <a:solidFill>
                  <a:srgbClr val="FFFFFF"/>
                </a:solidFill>
                <a:effectLst/>
              </a:rPr>
              <a:t>tenga</a:t>
            </a:r>
            <a:r>
              <a:rPr lang="en-US" sz="1300" dirty="0">
                <a:solidFill>
                  <a:srgbClr val="FFFFFF"/>
                </a:solidFill>
                <a:effectLst/>
              </a:rPr>
              <a:t> las </a:t>
            </a:r>
            <a:r>
              <a:rPr lang="en-US" sz="1300" dirty="0" err="1">
                <a:solidFill>
                  <a:srgbClr val="FFFFFF"/>
                </a:solidFill>
                <a:effectLst/>
              </a:rPr>
              <a:t>mejores</a:t>
            </a:r>
            <a:r>
              <a:rPr lang="en-US" sz="1300" dirty="0">
                <a:solidFill>
                  <a:srgbClr val="FFFFFF"/>
                </a:solidFill>
                <a:effectLst/>
              </a:rPr>
              <a:t> </a:t>
            </a:r>
            <a:r>
              <a:rPr lang="en-US" sz="1300" dirty="0" err="1">
                <a:solidFill>
                  <a:srgbClr val="FFFFFF"/>
                </a:solidFill>
                <a:effectLst/>
              </a:rPr>
              <a:t>cualidades</a:t>
            </a:r>
            <a:r>
              <a:rPr lang="en-US" sz="1300" dirty="0">
                <a:solidFill>
                  <a:srgbClr val="FFFFFF"/>
                </a:solidFill>
                <a:effectLst/>
              </a:rPr>
              <a:t> </a:t>
            </a:r>
            <a:r>
              <a:rPr lang="en-US" sz="1300" dirty="0" err="1">
                <a:solidFill>
                  <a:srgbClr val="FFFFFF"/>
                </a:solidFill>
                <a:effectLst/>
              </a:rPr>
              <a:t>nutricionales</a:t>
            </a:r>
            <a:r>
              <a:rPr lang="en-US" sz="1300" dirty="0">
                <a:solidFill>
                  <a:srgbClr val="FFFFFF"/>
                </a:solidFill>
                <a:effectLst/>
              </a:rPr>
              <a:t> debe </a:t>
            </a:r>
            <a:r>
              <a:rPr lang="en-US" sz="1300" dirty="0" err="1">
                <a:solidFill>
                  <a:srgbClr val="FFFFFF"/>
                </a:solidFill>
                <a:effectLst/>
              </a:rPr>
              <a:t>incluir</a:t>
            </a:r>
            <a:r>
              <a:rPr lang="en-US" sz="1300" dirty="0">
                <a:solidFill>
                  <a:srgbClr val="FFFFFF"/>
                </a:solidFill>
                <a:effectLst/>
              </a:rPr>
              <a:t>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300" dirty="0">
                <a:solidFill>
                  <a:srgbClr val="FFFFFF"/>
                </a:solidFill>
                <a:effectLst/>
              </a:rPr>
              <a:t> </a:t>
            </a:r>
            <a:r>
              <a:rPr lang="en-US" sz="1300" dirty="0" err="1">
                <a:solidFill>
                  <a:srgbClr val="FFFFFF"/>
                </a:solidFill>
                <a:effectLst/>
              </a:rPr>
              <a:t>Lácteos</a:t>
            </a:r>
            <a:r>
              <a:rPr lang="en-US" sz="1300" dirty="0">
                <a:solidFill>
                  <a:srgbClr val="FFFFFF"/>
                </a:solidFill>
                <a:effectLst/>
              </a:rPr>
              <a:t> (leche con o sin </a:t>
            </a:r>
            <a:r>
              <a:rPr lang="en-US" sz="1300" dirty="0" err="1">
                <a:solidFill>
                  <a:srgbClr val="FFFFFF"/>
                </a:solidFill>
                <a:effectLst/>
              </a:rPr>
              <a:t>azúcar</a:t>
            </a:r>
            <a:r>
              <a:rPr lang="en-US" sz="1300" dirty="0">
                <a:solidFill>
                  <a:srgbClr val="FFFFFF"/>
                </a:solidFill>
                <a:effectLst/>
              </a:rPr>
              <a:t> o cacao, </a:t>
            </a:r>
            <a:r>
              <a:rPr lang="en-US" sz="1300" dirty="0" err="1">
                <a:solidFill>
                  <a:srgbClr val="FFFFFF"/>
                </a:solidFill>
                <a:effectLst/>
              </a:rPr>
              <a:t>yogur</a:t>
            </a:r>
            <a:r>
              <a:rPr lang="en-US" sz="1300" dirty="0">
                <a:solidFill>
                  <a:srgbClr val="FFFFFF"/>
                </a:solidFill>
                <a:effectLst/>
              </a:rPr>
              <a:t>, queso de </a:t>
            </a:r>
            <a:r>
              <a:rPr lang="en-US" sz="1300" dirty="0" err="1">
                <a:solidFill>
                  <a:srgbClr val="FFFFFF"/>
                </a:solidFill>
                <a:effectLst/>
              </a:rPr>
              <a:t>cualquier</a:t>
            </a:r>
            <a:r>
              <a:rPr lang="en-US" sz="1300" dirty="0">
                <a:solidFill>
                  <a:srgbClr val="FFFFFF"/>
                </a:solidFill>
                <a:effectLst/>
              </a:rPr>
              <a:t> </a:t>
            </a:r>
            <a:r>
              <a:rPr lang="en-US" sz="1300" dirty="0" err="1">
                <a:solidFill>
                  <a:srgbClr val="FFFFFF"/>
                </a:solidFill>
                <a:effectLst/>
              </a:rPr>
              <a:t>modalidad</a:t>
            </a:r>
            <a:r>
              <a:rPr lang="en-US" sz="1300" dirty="0">
                <a:solidFill>
                  <a:srgbClr val="FFFFFF"/>
                </a:solidFill>
                <a:effectLst/>
              </a:rPr>
              <a:t>, </a:t>
            </a:r>
            <a:r>
              <a:rPr lang="en-US" sz="1300" dirty="0" err="1">
                <a:solidFill>
                  <a:srgbClr val="FFFFFF"/>
                </a:solidFill>
                <a:effectLst/>
              </a:rPr>
              <a:t>evitando</a:t>
            </a:r>
            <a:r>
              <a:rPr lang="en-US" sz="1300" dirty="0">
                <a:solidFill>
                  <a:srgbClr val="FFFFFF"/>
                </a:solidFill>
                <a:effectLst/>
              </a:rPr>
              <a:t> los </a:t>
            </a:r>
            <a:r>
              <a:rPr lang="en-US" sz="1300" dirty="0" err="1">
                <a:solidFill>
                  <a:srgbClr val="FFFFFF"/>
                </a:solidFill>
                <a:effectLst/>
              </a:rPr>
              <a:t>muy</a:t>
            </a:r>
            <a:r>
              <a:rPr lang="en-US" sz="1300" dirty="0">
                <a:solidFill>
                  <a:srgbClr val="FFFFFF"/>
                </a:solidFill>
                <a:effectLst/>
              </a:rPr>
              <a:t> </a:t>
            </a:r>
            <a:r>
              <a:rPr lang="en-US" sz="1300" dirty="0" err="1">
                <a:solidFill>
                  <a:srgbClr val="FFFFFF"/>
                </a:solidFill>
                <a:effectLst/>
              </a:rPr>
              <a:t>grasos</a:t>
            </a:r>
            <a:r>
              <a:rPr lang="en-US" sz="1300" dirty="0">
                <a:solidFill>
                  <a:srgbClr val="FFFFFF"/>
                </a:solidFill>
                <a:effectLst/>
              </a:rPr>
              <a:t>…)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300" dirty="0">
                <a:solidFill>
                  <a:srgbClr val="FFFFFF"/>
                </a:solidFill>
                <a:effectLst/>
              </a:rPr>
              <a:t> Pan, tostadas, </a:t>
            </a:r>
            <a:r>
              <a:rPr lang="en-US" sz="1300" dirty="0" err="1">
                <a:solidFill>
                  <a:srgbClr val="FFFFFF"/>
                </a:solidFill>
                <a:effectLst/>
              </a:rPr>
              <a:t>copos</a:t>
            </a:r>
            <a:r>
              <a:rPr lang="en-US" sz="1300" dirty="0">
                <a:solidFill>
                  <a:srgbClr val="FFFFFF"/>
                </a:solidFill>
                <a:effectLst/>
              </a:rPr>
              <a:t> de </a:t>
            </a:r>
            <a:r>
              <a:rPr lang="en-US" sz="1300" dirty="0" err="1">
                <a:solidFill>
                  <a:srgbClr val="FFFFFF"/>
                </a:solidFill>
                <a:effectLst/>
              </a:rPr>
              <a:t>cereales</a:t>
            </a:r>
            <a:r>
              <a:rPr lang="en-US" sz="1300" dirty="0">
                <a:solidFill>
                  <a:srgbClr val="FFFFFF"/>
                </a:solidFill>
                <a:effectLst/>
              </a:rPr>
              <a:t>, galletas, </a:t>
            </a:r>
            <a:r>
              <a:rPr lang="en-US" sz="1300" dirty="0" err="1">
                <a:solidFill>
                  <a:srgbClr val="FFFFFF"/>
                </a:solidFill>
                <a:effectLst/>
              </a:rPr>
              <a:t>magdalenas</a:t>
            </a:r>
            <a:r>
              <a:rPr lang="en-US" sz="1300" dirty="0">
                <a:solidFill>
                  <a:srgbClr val="FFFFFF"/>
                </a:solidFill>
                <a:effectLst/>
              </a:rPr>
              <a:t>, </a:t>
            </a:r>
            <a:r>
              <a:rPr lang="en-US" sz="1300" dirty="0" err="1">
                <a:solidFill>
                  <a:srgbClr val="FFFFFF"/>
                </a:solidFill>
                <a:effectLst/>
              </a:rPr>
              <a:t>bizcochos</a:t>
            </a:r>
            <a:endParaRPr lang="en-US" sz="1300" dirty="0">
              <a:solidFill>
                <a:srgbClr val="FFFFFF"/>
              </a:solidFill>
              <a:effectLst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300" dirty="0">
                <a:solidFill>
                  <a:srgbClr val="FFFFFF"/>
                </a:solidFill>
                <a:effectLst/>
              </a:rPr>
              <a:t> </a:t>
            </a:r>
            <a:r>
              <a:rPr lang="en-US" sz="1300" dirty="0" err="1">
                <a:solidFill>
                  <a:srgbClr val="FFFFFF"/>
                </a:solidFill>
                <a:effectLst/>
              </a:rPr>
              <a:t>Fruta</a:t>
            </a:r>
            <a:r>
              <a:rPr lang="en-US" sz="1300" dirty="0">
                <a:solidFill>
                  <a:srgbClr val="FFFFFF"/>
                </a:solidFill>
                <a:effectLst/>
              </a:rPr>
              <a:t> o </a:t>
            </a:r>
            <a:r>
              <a:rPr lang="en-US" sz="1300" dirty="0" err="1">
                <a:solidFill>
                  <a:srgbClr val="FFFFFF"/>
                </a:solidFill>
                <a:effectLst/>
              </a:rPr>
              <a:t>su</a:t>
            </a:r>
            <a:r>
              <a:rPr lang="en-US" sz="1300" dirty="0">
                <a:solidFill>
                  <a:srgbClr val="FFFFFF"/>
                </a:solidFill>
                <a:effectLst/>
              </a:rPr>
              <a:t> </a:t>
            </a:r>
            <a:r>
              <a:rPr lang="en-US" sz="1300" dirty="0" err="1">
                <a:solidFill>
                  <a:srgbClr val="FFFFFF"/>
                </a:solidFill>
                <a:effectLst/>
              </a:rPr>
              <a:t>zumo</a:t>
            </a:r>
            <a:r>
              <a:rPr lang="en-US" sz="1300" dirty="0">
                <a:solidFill>
                  <a:srgbClr val="FFFFFF"/>
                </a:solidFill>
                <a:effectLst/>
              </a:rPr>
              <a:t> (</a:t>
            </a:r>
            <a:r>
              <a:rPr lang="en-US" sz="1300" dirty="0" err="1">
                <a:solidFill>
                  <a:srgbClr val="FFFFFF"/>
                </a:solidFill>
                <a:effectLst/>
              </a:rPr>
              <a:t>cualquier</a:t>
            </a:r>
            <a:r>
              <a:rPr lang="en-US" sz="1300" dirty="0">
                <a:solidFill>
                  <a:srgbClr val="FFFFFF"/>
                </a:solidFill>
                <a:effectLst/>
              </a:rPr>
              <a:t> </a:t>
            </a:r>
            <a:r>
              <a:rPr lang="en-US" sz="1300" dirty="0" err="1">
                <a:solidFill>
                  <a:srgbClr val="FFFFFF"/>
                </a:solidFill>
                <a:effectLst/>
              </a:rPr>
              <a:t>variedad</a:t>
            </a:r>
            <a:r>
              <a:rPr lang="en-US" sz="1300" dirty="0">
                <a:solidFill>
                  <a:srgbClr val="FFFFFF"/>
                </a:solidFill>
                <a:effectLst/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300" dirty="0" err="1">
                <a:solidFill>
                  <a:srgbClr val="FFFFFF"/>
                </a:solidFill>
                <a:effectLst/>
              </a:rPr>
              <a:t>Mermeladas</a:t>
            </a:r>
            <a:r>
              <a:rPr lang="en-US" sz="1300" dirty="0">
                <a:solidFill>
                  <a:srgbClr val="FFFFFF"/>
                </a:solidFill>
                <a:effectLst/>
              </a:rPr>
              <a:t>, </a:t>
            </a:r>
            <a:r>
              <a:rPr lang="en-US" sz="1300" dirty="0" err="1">
                <a:solidFill>
                  <a:srgbClr val="FFFFFF"/>
                </a:solidFill>
                <a:effectLst/>
              </a:rPr>
              <a:t>miel</a:t>
            </a:r>
            <a:r>
              <a:rPr lang="en-US" sz="1300" dirty="0">
                <a:solidFill>
                  <a:srgbClr val="FFFFFF"/>
                </a:solidFill>
                <a:effectLst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300" dirty="0">
                <a:solidFill>
                  <a:srgbClr val="FFFFFF"/>
                </a:solidFill>
                <a:effectLst/>
              </a:rPr>
              <a:t> </a:t>
            </a:r>
            <a:r>
              <a:rPr lang="en-US" sz="1300" dirty="0" err="1">
                <a:solidFill>
                  <a:srgbClr val="FFFFFF"/>
                </a:solidFill>
                <a:effectLst/>
              </a:rPr>
              <a:t>Grasa</a:t>
            </a:r>
            <a:r>
              <a:rPr lang="en-US" sz="1300" dirty="0">
                <a:solidFill>
                  <a:srgbClr val="FFFFFF"/>
                </a:solidFill>
                <a:effectLst/>
              </a:rPr>
              <a:t> de </a:t>
            </a:r>
            <a:r>
              <a:rPr lang="en-US" sz="1300" dirty="0" err="1">
                <a:solidFill>
                  <a:srgbClr val="FFFFFF"/>
                </a:solidFill>
                <a:effectLst/>
              </a:rPr>
              <a:t>complemento</a:t>
            </a:r>
            <a:r>
              <a:rPr lang="en-US" sz="1300" dirty="0">
                <a:solidFill>
                  <a:srgbClr val="FFFFFF"/>
                </a:solidFill>
                <a:effectLst/>
              </a:rPr>
              <a:t> (</a:t>
            </a:r>
            <a:r>
              <a:rPr lang="en-US" sz="1300" dirty="0" err="1">
                <a:solidFill>
                  <a:srgbClr val="FFFFFF"/>
                </a:solidFill>
                <a:effectLst/>
              </a:rPr>
              <a:t>aceite</a:t>
            </a:r>
            <a:r>
              <a:rPr lang="en-US" sz="1300" dirty="0">
                <a:solidFill>
                  <a:srgbClr val="FFFFFF"/>
                </a:solidFill>
                <a:effectLst/>
              </a:rPr>
              <a:t> de </a:t>
            </a:r>
            <a:r>
              <a:rPr lang="en-US" sz="1300" dirty="0" err="1">
                <a:solidFill>
                  <a:srgbClr val="FFFFFF"/>
                </a:solidFill>
                <a:effectLst/>
              </a:rPr>
              <a:t>oliva</a:t>
            </a:r>
            <a:r>
              <a:rPr lang="en-US" sz="1300" dirty="0">
                <a:solidFill>
                  <a:srgbClr val="FFFFFF"/>
                </a:solidFill>
                <a:effectLst/>
              </a:rPr>
              <a:t>, </a:t>
            </a:r>
            <a:r>
              <a:rPr lang="en-US" sz="1300" dirty="0" err="1">
                <a:solidFill>
                  <a:srgbClr val="FFFFFF"/>
                </a:solidFill>
                <a:effectLst/>
              </a:rPr>
              <a:t>mantequilla</a:t>
            </a:r>
            <a:r>
              <a:rPr lang="en-US" sz="1300" dirty="0">
                <a:solidFill>
                  <a:srgbClr val="FFFFFF"/>
                </a:solidFill>
                <a:effectLst/>
              </a:rPr>
              <a:t>, </a:t>
            </a:r>
            <a:r>
              <a:rPr lang="en-US" sz="1300" dirty="0" err="1">
                <a:solidFill>
                  <a:srgbClr val="FFFFFF"/>
                </a:solidFill>
                <a:effectLst/>
              </a:rPr>
              <a:t>margarina</a:t>
            </a:r>
            <a:r>
              <a:rPr lang="en-US" sz="1300" dirty="0">
                <a:solidFill>
                  <a:srgbClr val="FFFFFF"/>
                </a:solidFill>
                <a:effectLst/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300" dirty="0">
                <a:solidFill>
                  <a:srgbClr val="FFFFFF"/>
                </a:solidFill>
                <a:effectLst/>
              </a:rPr>
              <a:t> </a:t>
            </a:r>
            <a:r>
              <a:rPr lang="en-US" sz="1300" dirty="0" err="1">
                <a:solidFill>
                  <a:srgbClr val="FFFFFF"/>
                </a:solidFill>
                <a:effectLst/>
              </a:rPr>
              <a:t>Jamón</a:t>
            </a:r>
            <a:r>
              <a:rPr lang="en-US" sz="1300" dirty="0">
                <a:solidFill>
                  <a:srgbClr val="FFFFFF"/>
                </a:solidFill>
                <a:effectLst/>
              </a:rPr>
              <a:t> o un </a:t>
            </a:r>
            <a:r>
              <a:rPr lang="en-US" sz="1300" dirty="0" err="1">
                <a:solidFill>
                  <a:srgbClr val="FFFFFF"/>
                </a:solidFill>
                <a:effectLst/>
              </a:rPr>
              <a:t>tipo</a:t>
            </a:r>
            <a:r>
              <a:rPr lang="en-US" sz="1300" dirty="0">
                <a:solidFill>
                  <a:srgbClr val="FFFFFF"/>
                </a:solidFill>
                <a:effectLst/>
              </a:rPr>
              <a:t> de </a:t>
            </a:r>
            <a:r>
              <a:rPr lang="en-US" sz="1300" dirty="0" err="1">
                <a:solidFill>
                  <a:srgbClr val="FFFFFF"/>
                </a:solidFill>
                <a:effectLst/>
              </a:rPr>
              <a:t>fiambre</a:t>
            </a:r>
            <a:r>
              <a:rPr lang="en-US" sz="1300" dirty="0">
                <a:solidFill>
                  <a:srgbClr val="FFFFFF"/>
                </a:solidFill>
                <a:effectLst/>
              </a:rPr>
              <a:t> ( </a:t>
            </a:r>
            <a:r>
              <a:rPr lang="en-US" sz="1300" dirty="0" err="1">
                <a:solidFill>
                  <a:srgbClr val="FFFFFF"/>
                </a:solidFill>
                <a:effectLst/>
              </a:rPr>
              <a:t>en</a:t>
            </a:r>
            <a:r>
              <a:rPr lang="en-US" sz="1300" dirty="0">
                <a:solidFill>
                  <a:srgbClr val="FFFFFF"/>
                </a:solidFill>
                <a:effectLst/>
              </a:rPr>
              <a:t> </a:t>
            </a:r>
            <a:r>
              <a:rPr lang="en-US" sz="1300" dirty="0" err="1">
                <a:solidFill>
                  <a:srgbClr val="FFFFFF"/>
                </a:solidFill>
                <a:effectLst/>
              </a:rPr>
              <a:t>ocasiones</a:t>
            </a:r>
            <a:r>
              <a:rPr lang="en-US" sz="1300" dirty="0">
                <a:solidFill>
                  <a:srgbClr val="FFFFFF"/>
                </a:solidFill>
                <a:effectLst/>
              </a:rPr>
              <a:t>).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300" dirty="0">
                <a:solidFill>
                  <a:srgbClr val="FFFFFF"/>
                </a:solidFill>
                <a:effectLst/>
              </a:rPr>
              <a:t>Media </a:t>
            </a:r>
            <a:r>
              <a:rPr lang="en-US" sz="1300" dirty="0" err="1">
                <a:solidFill>
                  <a:srgbClr val="FFFFFF"/>
                </a:solidFill>
                <a:effectLst/>
              </a:rPr>
              <a:t>mañana</a:t>
            </a:r>
            <a:r>
              <a:rPr lang="en-US" sz="1300" dirty="0">
                <a:solidFill>
                  <a:srgbClr val="FFFFFF"/>
                </a:solidFill>
                <a:effectLst/>
              </a:rPr>
              <a:t>: </a:t>
            </a:r>
            <a:r>
              <a:rPr lang="en-US" sz="1300" dirty="0" err="1">
                <a:solidFill>
                  <a:srgbClr val="FFFFFF"/>
                </a:solidFill>
                <a:effectLst/>
              </a:rPr>
              <a:t>fruta</a:t>
            </a:r>
            <a:r>
              <a:rPr lang="en-US" sz="1300" dirty="0">
                <a:solidFill>
                  <a:srgbClr val="FFFFFF"/>
                </a:solidFill>
                <a:effectLst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300" dirty="0">
                <a:solidFill>
                  <a:srgbClr val="FFFFFF"/>
                </a:solidFill>
                <a:effectLst/>
              </a:rPr>
              <a:t>Comida y </a:t>
            </a:r>
            <a:r>
              <a:rPr lang="en-US" sz="1300" dirty="0" err="1">
                <a:solidFill>
                  <a:srgbClr val="FFFFFF"/>
                </a:solidFill>
                <a:effectLst/>
              </a:rPr>
              <a:t>cena</a:t>
            </a:r>
            <a:r>
              <a:rPr lang="en-US" sz="1300" dirty="0">
                <a:solidFill>
                  <a:srgbClr val="FFFFFF"/>
                </a:solidFill>
                <a:effectLst/>
              </a:rPr>
              <a:t>: La comida del </a:t>
            </a:r>
            <a:r>
              <a:rPr lang="en-US" sz="1300" dirty="0" err="1">
                <a:solidFill>
                  <a:srgbClr val="FFFFFF"/>
                </a:solidFill>
                <a:effectLst/>
              </a:rPr>
              <a:t>mediodía</a:t>
            </a:r>
            <a:r>
              <a:rPr lang="en-US" sz="1300" dirty="0">
                <a:solidFill>
                  <a:srgbClr val="FFFFFF"/>
                </a:solidFill>
                <a:effectLst/>
              </a:rPr>
              <a:t> </a:t>
            </a:r>
            <a:r>
              <a:rPr lang="en-US" sz="1300" dirty="0" err="1">
                <a:solidFill>
                  <a:srgbClr val="FFFFFF"/>
                </a:solidFill>
                <a:effectLst/>
              </a:rPr>
              <a:t>suele</a:t>
            </a:r>
            <a:r>
              <a:rPr lang="en-US" sz="1300" dirty="0">
                <a:solidFill>
                  <a:srgbClr val="FFFFFF"/>
                </a:solidFill>
                <a:effectLst/>
              </a:rPr>
              <a:t> </a:t>
            </a:r>
            <a:r>
              <a:rPr lang="en-US" sz="1300" dirty="0" err="1">
                <a:solidFill>
                  <a:srgbClr val="FFFFFF"/>
                </a:solidFill>
                <a:effectLst/>
              </a:rPr>
              <a:t>proporcionar</a:t>
            </a:r>
            <a:r>
              <a:rPr lang="en-US" sz="1300" dirty="0">
                <a:solidFill>
                  <a:srgbClr val="FFFFFF"/>
                </a:solidFill>
                <a:effectLst/>
              </a:rPr>
              <a:t> el </a:t>
            </a:r>
            <a:r>
              <a:rPr lang="en-US" sz="1300" dirty="0" err="1">
                <a:solidFill>
                  <a:srgbClr val="FFFFFF"/>
                </a:solidFill>
                <a:effectLst/>
              </a:rPr>
              <a:t>aporte</a:t>
            </a:r>
            <a:r>
              <a:rPr lang="en-US" sz="1300" dirty="0">
                <a:solidFill>
                  <a:srgbClr val="FFFFFF"/>
                </a:solidFill>
                <a:effectLst/>
              </a:rPr>
              <a:t> de </a:t>
            </a:r>
            <a:r>
              <a:rPr lang="en-US" sz="1300" dirty="0" err="1">
                <a:solidFill>
                  <a:srgbClr val="FFFFFF"/>
                </a:solidFill>
                <a:effectLst/>
              </a:rPr>
              <a:t>energía</a:t>
            </a:r>
            <a:r>
              <a:rPr lang="en-US" sz="1300" dirty="0">
                <a:solidFill>
                  <a:srgbClr val="FFFFFF"/>
                </a:solidFill>
                <a:effectLst/>
              </a:rPr>
              <a:t> y </a:t>
            </a:r>
            <a:r>
              <a:rPr lang="en-US" sz="1300" dirty="0" err="1">
                <a:solidFill>
                  <a:srgbClr val="FFFFFF"/>
                </a:solidFill>
                <a:effectLst/>
              </a:rPr>
              <a:t>nutrientes</a:t>
            </a:r>
            <a:r>
              <a:rPr lang="en-US" sz="1300" dirty="0">
                <a:solidFill>
                  <a:srgbClr val="FFFFFF"/>
                </a:solidFill>
                <a:effectLst/>
              </a:rPr>
              <a:t> </a:t>
            </a:r>
            <a:r>
              <a:rPr lang="en-US" sz="1300" dirty="0" err="1">
                <a:solidFill>
                  <a:srgbClr val="FFFFFF"/>
                </a:solidFill>
                <a:effectLst/>
              </a:rPr>
              <a:t>más</a:t>
            </a:r>
            <a:r>
              <a:rPr lang="en-US" sz="1300" dirty="0">
                <a:solidFill>
                  <a:srgbClr val="FFFFFF"/>
                </a:solidFill>
                <a:effectLst/>
              </a:rPr>
              <a:t> </a:t>
            </a:r>
            <a:r>
              <a:rPr lang="en-US" sz="1300" dirty="0" err="1">
                <a:solidFill>
                  <a:srgbClr val="FFFFFF"/>
                </a:solidFill>
                <a:effectLst/>
              </a:rPr>
              <a:t>elevado</a:t>
            </a:r>
            <a:r>
              <a:rPr lang="en-US" sz="1300" dirty="0">
                <a:solidFill>
                  <a:srgbClr val="FFFFFF"/>
                </a:solidFill>
                <a:effectLst/>
              </a:rPr>
              <a:t> y debe </a:t>
            </a:r>
            <a:r>
              <a:rPr lang="en-US" sz="1300" dirty="0" err="1">
                <a:solidFill>
                  <a:srgbClr val="FFFFFF"/>
                </a:solidFill>
                <a:effectLst/>
              </a:rPr>
              <a:t>complementarse</a:t>
            </a:r>
            <a:r>
              <a:rPr lang="en-US" sz="1300" dirty="0">
                <a:solidFill>
                  <a:srgbClr val="FFFFFF"/>
                </a:solidFill>
                <a:effectLst/>
              </a:rPr>
              <a:t> </a:t>
            </a:r>
            <a:r>
              <a:rPr lang="en-US" sz="1300" dirty="0" err="1">
                <a:solidFill>
                  <a:srgbClr val="FFFFFF"/>
                </a:solidFill>
                <a:effectLst/>
              </a:rPr>
              <a:t>equilibradamente</a:t>
            </a:r>
            <a:r>
              <a:rPr lang="en-US" sz="1300" dirty="0">
                <a:solidFill>
                  <a:srgbClr val="FFFFFF"/>
                </a:solidFill>
                <a:effectLst/>
              </a:rPr>
              <a:t> con la </a:t>
            </a:r>
            <a:r>
              <a:rPr lang="en-US" sz="1300" dirty="0" err="1">
                <a:solidFill>
                  <a:srgbClr val="FFFFFF"/>
                </a:solidFill>
                <a:effectLst/>
              </a:rPr>
              <a:t>cena</a:t>
            </a:r>
            <a:r>
              <a:rPr lang="en-US" sz="1300" dirty="0">
                <a:solidFill>
                  <a:srgbClr val="FFFFFF"/>
                </a:solidFill>
                <a:effectLst/>
              </a:rPr>
              <a:t>.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3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9560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35A04CF-97D4-4FF7-B359-C546B1F6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DE7243B-5109-444B-8FAF-7437C66BC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21332" cy="6858000"/>
          </a:xfrm>
          <a:custGeom>
            <a:avLst/>
            <a:gdLst>
              <a:gd name="connsiteX0" fmla="*/ 4421332 w 4421332"/>
              <a:gd name="connsiteY0" fmla="*/ 0 h 6858000"/>
              <a:gd name="connsiteX1" fmla="*/ 69075 w 4421332"/>
              <a:gd name="connsiteY1" fmla="*/ 0 h 6858000"/>
              <a:gd name="connsiteX2" fmla="*/ 35131 w 4421332"/>
              <a:gd name="connsiteY2" fmla="*/ 267128 h 6858000"/>
              <a:gd name="connsiteX3" fmla="*/ 0 w 4421332"/>
              <a:gd name="connsiteY3" fmla="*/ 962845 h 6858000"/>
              <a:gd name="connsiteX4" fmla="*/ 3276103 w 4421332"/>
              <a:gd name="connsiteY4" fmla="*/ 6782205 h 6858000"/>
              <a:gd name="connsiteX5" fmla="*/ 3407923 w 4421332"/>
              <a:gd name="connsiteY5" fmla="*/ 6858000 h 6858000"/>
              <a:gd name="connsiteX6" fmla="*/ 4421332 w 4421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21332" h="6858000">
                <a:moveTo>
                  <a:pt x="442133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442133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C5D6221-DA7B-4611-AA26-7D8E349FD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232227" cy="6858000"/>
          </a:xfrm>
          <a:custGeom>
            <a:avLst/>
            <a:gdLst>
              <a:gd name="connsiteX0" fmla="*/ 0 w 4232227"/>
              <a:gd name="connsiteY0" fmla="*/ 0 h 6858000"/>
              <a:gd name="connsiteX1" fmla="*/ 4161853 w 4232227"/>
              <a:gd name="connsiteY1" fmla="*/ 0 h 6858000"/>
              <a:gd name="connsiteX2" fmla="*/ 4197953 w 4232227"/>
              <a:gd name="connsiteY2" fmla="*/ 284091 h 6858000"/>
              <a:gd name="connsiteX3" fmla="*/ 4232227 w 4232227"/>
              <a:gd name="connsiteY3" fmla="*/ 962844 h 6858000"/>
              <a:gd name="connsiteX4" fmla="*/ 758007 w 4232227"/>
              <a:gd name="connsiteY4" fmla="*/ 6800152 h 6858000"/>
              <a:gd name="connsiteX5" fmla="*/ 645060 w 4232227"/>
              <a:gd name="connsiteY5" fmla="*/ 6858000 h 6858000"/>
              <a:gd name="connsiteX6" fmla="*/ 0 w 423222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2227" h="6858000">
                <a:moveTo>
                  <a:pt x="0" y="0"/>
                </a:moveTo>
                <a:lnTo>
                  <a:pt x="4161853" y="0"/>
                </a:lnTo>
                <a:lnTo>
                  <a:pt x="4197953" y="284091"/>
                </a:lnTo>
                <a:cubicBezTo>
                  <a:pt x="4220617" y="507260"/>
                  <a:pt x="4232227" y="733696"/>
                  <a:pt x="4232227" y="962844"/>
                </a:cubicBezTo>
                <a:cubicBezTo>
                  <a:pt x="4232227" y="3483472"/>
                  <a:pt x="2827409" y="5675986"/>
                  <a:pt x="758007" y="6800152"/>
                </a:cubicBezTo>
                <a:lnTo>
                  <a:pt x="64506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F804E21-9D21-448F-9622-D34E9D4CB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412489"/>
            <a:ext cx="2871095" cy="2156621"/>
          </a:xfrm>
        </p:spPr>
        <p:txBody>
          <a:bodyPr anchor="t">
            <a:normAutofit/>
          </a:bodyPr>
          <a:lstStyle/>
          <a:p>
            <a:r>
              <a:rPr lang="es-ES" sz="3600">
                <a:solidFill>
                  <a:srgbClr val="FFFFFF"/>
                </a:solidFill>
                <a:highlight>
                  <a:srgbClr val="C0C0C0"/>
                </a:highlight>
              </a:rPr>
              <a:t>Mi Desayuno y Comida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2C12E89-2CFD-45A7-9B22-E50425EFC5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89477" y="281354"/>
            <a:ext cx="3435596" cy="6316394"/>
          </a:xfrm>
        </p:spPr>
        <p:txBody>
          <a:bodyPr>
            <a:normAutofit fontScale="92500"/>
          </a:bodyPr>
          <a:lstStyle/>
          <a:p>
            <a:r>
              <a:rPr lang="es-ES" sz="1200" dirty="0">
                <a:solidFill>
                  <a:schemeClr val="accent2">
                    <a:lumMod val="50000"/>
                  </a:schemeClr>
                </a:solidFill>
                <a:effectLst/>
                <a:latin typeface="Castellar" panose="020A0402060406010301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Lunes: Leche, Pan con tomate, aceite de oliva y jamón serrano</a:t>
            </a:r>
          </a:p>
          <a:p>
            <a:r>
              <a:rPr lang="es-ES" sz="1200" dirty="0">
                <a:solidFill>
                  <a:schemeClr val="accent2">
                    <a:lumMod val="50000"/>
                  </a:schemeClr>
                </a:solidFill>
                <a:effectLst/>
                <a:latin typeface="Castellar" panose="020A0402060406010301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Guiso de carne de ternera con patatas, zanahorias y guisantes.</a:t>
            </a:r>
          </a:p>
          <a:p>
            <a:r>
              <a:rPr lang="es-ES" sz="1200" dirty="0">
                <a:solidFill>
                  <a:schemeClr val="accent2">
                    <a:lumMod val="50000"/>
                  </a:schemeClr>
                </a:solidFill>
                <a:effectLst/>
                <a:latin typeface="Castellar" panose="020A0402060406010301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Queso manchego.</a:t>
            </a:r>
          </a:p>
          <a:p>
            <a:r>
              <a:rPr lang="es-ES" sz="1200" dirty="0">
                <a:solidFill>
                  <a:schemeClr val="accent2">
                    <a:lumMod val="50000"/>
                  </a:schemeClr>
                </a:solidFill>
                <a:effectLst/>
                <a:latin typeface="Castellar" panose="020A0402060406010301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Manzana </a:t>
            </a:r>
          </a:p>
          <a:p>
            <a:r>
              <a:rPr lang="es-ES" sz="1200" dirty="0">
                <a:solidFill>
                  <a:schemeClr val="accent2">
                    <a:lumMod val="50000"/>
                  </a:schemeClr>
                </a:solidFill>
                <a:effectLst/>
                <a:latin typeface="Castellar" panose="020A0402060406010301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Martes: Leche, Tostadas de pan con mermelada y mantequilla.</a:t>
            </a:r>
          </a:p>
          <a:p>
            <a:r>
              <a:rPr lang="es-ES" sz="1200" dirty="0">
                <a:solidFill>
                  <a:schemeClr val="accent2">
                    <a:lumMod val="50000"/>
                  </a:schemeClr>
                </a:solidFill>
                <a:effectLst/>
                <a:latin typeface="Castellar" panose="020A0402060406010301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Zumo</a:t>
            </a:r>
          </a:p>
          <a:p>
            <a:r>
              <a:rPr lang="es-ES" sz="1200" dirty="0">
                <a:solidFill>
                  <a:schemeClr val="accent2">
                    <a:lumMod val="50000"/>
                  </a:schemeClr>
                </a:solidFill>
                <a:effectLst/>
                <a:latin typeface="Castellar" panose="020A0402060406010301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Carne asada con guarnición de patatas fritas, champiñones y guisantes. </a:t>
            </a:r>
          </a:p>
          <a:p>
            <a:r>
              <a:rPr lang="es-ES" sz="1200" dirty="0">
                <a:solidFill>
                  <a:schemeClr val="accent2">
                    <a:lumMod val="50000"/>
                  </a:schemeClr>
                </a:solidFill>
                <a:effectLst/>
                <a:latin typeface="Castellar" panose="020A0402060406010301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Ensalada de lechuga, tomate y espárragos.</a:t>
            </a:r>
          </a:p>
          <a:p>
            <a:r>
              <a:rPr lang="es-ES" sz="1200" dirty="0">
                <a:solidFill>
                  <a:schemeClr val="accent2">
                    <a:lumMod val="50000"/>
                  </a:schemeClr>
                </a:solidFill>
                <a:effectLst/>
                <a:latin typeface="Castellar" panose="020A0402060406010301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Manzana </a:t>
            </a:r>
          </a:p>
          <a:p>
            <a:r>
              <a:rPr lang="es-ES" sz="1200" dirty="0">
                <a:solidFill>
                  <a:schemeClr val="accent2">
                    <a:lumMod val="50000"/>
                  </a:schemeClr>
                </a:solidFill>
                <a:effectLst/>
                <a:latin typeface="Castellar" panose="020A0402060406010301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Miércoles: Leche. Copos de cereales. </a:t>
            </a:r>
          </a:p>
          <a:p>
            <a:r>
              <a:rPr lang="es-ES" sz="1200" dirty="0">
                <a:solidFill>
                  <a:schemeClr val="accent2">
                    <a:lumMod val="50000"/>
                  </a:schemeClr>
                </a:solidFill>
                <a:effectLst/>
                <a:latin typeface="Castellar" panose="020A0402060406010301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Zumo. </a:t>
            </a:r>
          </a:p>
          <a:p>
            <a:r>
              <a:rPr lang="es-ES" sz="1200" dirty="0">
                <a:solidFill>
                  <a:schemeClr val="accent2">
                    <a:lumMod val="50000"/>
                  </a:schemeClr>
                </a:solidFill>
                <a:effectLst/>
                <a:latin typeface="Castellar" panose="020A0402060406010301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Cocido y pera </a:t>
            </a:r>
          </a:p>
          <a:p>
            <a:r>
              <a:rPr lang="es-ES" sz="1200" dirty="0">
                <a:solidFill>
                  <a:schemeClr val="accent2">
                    <a:lumMod val="50000"/>
                  </a:schemeClr>
                </a:solidFill>
                <a:effectLst/>
                <a:latin typeface="Castellar" panose="020A0402060406010301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Jueves: Leche, pan integral con miel o mermelada y zumo de naranja</a:t>
            </a:r>
          </a:p>
          <a:p>
            <a:r>
              <a:rPr lang="es-ES" sz="1200" dirty="0">
                <a:solidFill>
                  <a:schemeClr val="accent2">
                    <a:lumMod val="50000"/>
                  </a:schemeClr>
                </a:solidFill>
                <a:effectLst/>
                <a:latin typeface="Castellar" panose="020A0402060406010301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Potaje de legumbres con verdura: garbanzos, espinacas, patatas y zanahorias.</a:t>
            </a:r>
          </a:p>
          <a:p>
            <a:r>
              <a:rPr lang="es-ES" sz="1200" dirty="0">
                <a:solidFill>
                  <a:schemeClr val="accent2">
                    <a:lumMod val="50000"/>
                  </a:schemeClr>
                </a:solidFill>
                <a:effectLst/>
                <a:latin typeface="Castellar" panose="020A0402060406010301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Filetes rusos con ensalada. </a:t>
            </a:r>
          </a:p>
          <a:p>
            <a:r>
              <a:rPr lang="es-ES" sz="1200" dirty="0">
                <a:solidFill>
                  <a:schemeClr val="accent2">
                    <a:lumMod val="50000"/>
                  </a:schemeClr>
                </a:solidFill>
                <a:effectLst/>
                <a:latin typeface="Castellar" panose="020A0402060406010301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Yogur.</a:t>
            </a:r>
            <a:endParaRPr lang="es-ES" sz="1200" dirty="0">
              <a:solidFill>
                <a:schemeClr val="accent2">
                  <a:lumMod val="50000"/>
                </a:schemeClr>
              </a:solidFill>
              <a:latin typeface="Castellar" panose="020A0402060406010301" pitchFamily="18" charset="0"/>
            </a:endParaRP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F0CABF3-829E-4BFA-95D2-056DF0F4C6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51604" y="281354"/>
            <a:ext cx="3435596" cy="6189784"/>
          </a:xfrm>
        </p:spPr>
        <p:txBody>
          <a:bodyPr>
            <a:normAutofit fontScale="92500"/>
          </a:bodyPr>
          <a:lstStyle/>
          <a:p>
            <a:r>
              <a:rPr lang="es-ES" sz="1200" dirty="0">
                <a:solidFill>
                  <a:schemeClr val="accent2">
                    <a:lumMod val="50000"/>
                  </a:schemeClr>
                </a:solidFill>
                <a:latin typeface="Castellar" panose="020A0402060406010301" pitchFamily="18" charset="0"/>
                <a:cs typeface="Times New Roman" panose="02020603050405020304" pitchFamily="18" charset="0"/>
              </a:rPr>
              <a:t>Viernes: Leche con tostadas de pan con aceite de oliva. </a:t>
            </a:r>
          </a:p>
          <a:p>
            <a:r>
              <a:rPr lang="es-ES" sz="1200" dirty="0">
                <a:solidFill>
                  <a:schemeClr val="accent2">
                    <a:lumMod val="50000"/>
                  </a:schemeClr>
                </a:solidFill>
                <a:latin typeface="Castellar" panose="020A0402060406010301" pitchFamily="18" charset="0"/>
                <a:cs typeface="Times New Roman" panose="02020603050405020304" pitchFamily="18" charset="0"/>
              </a:rPr>
              <a:t>Zumo de frutas</a:t>
            </a:r>
          </a:p>
          <a:p>
            <a:r>
              <a:rPr lang="es-ES" sz="1200" dirty="0">
                <a:solidFill>
                  <a:schemeClr val="accent2">
                    <a:lumMod val="50000"/>
                  </a:schemeClr>
                </a:solidFill>
                <a:latin typeface="Castellar" panose="020A0402060406010301" pitchFamily="18" charset="0"/>
                <a:cs typeface="Times New Roman" panose="02020603050405020304" pitchFamily="18" charset="0"/>
              </a:rPr>
              <a:t>Canelones de carne picada. </a:t>
            </a:r>
          </a:p>
          <a:p>
            <a:r>
              <a:rPr lang="es-ES" sz="1200" dirty="0">
                <a:solidFill>
                  <a:schemeClr val="accent2">
                    <a:lumMod val="50000"/>
                  </a:schemeClr>
                </a:solidFill>
                <a:latin typeface="Castellar" panose="020A0402060406010301" pitchFamily="18" charset="0"/>
                <a:cs typeface="Times New Roman" panose="02020603050405020304" pitchFamily="18" charset="0"/>
              </a:rPr>
              <a:t>Ensalada de lechuga, tomate, cebolla, zanahoria y pimiento.</a:t>
            </a:r>
          </a:p>
          <a:p>
            <a:r>
              <a:rPr lang="es-ES" sz="1200" dirty="0">
                <a:solidFill>
                  <a:schemeClr val="accent2">
                    <a:lumMod val="50000"/>
                  </a:schemeClr>
                </a:solidFill>
                <a:latin typeface="Castellar" panose="020A0402060406010301" pitchFamily="18" charset="0"/>
                <a:cs typeface="Times New Roman" panose="02020603050405020304" pitchFamily="18" charset="0"/>
              </a:rPr>
              <a:t>Naranja.</a:t>
            </a:r>
          </a:p>
          <a:p>
            <a:r>
              <a:rPr lang="es-ES" sz="1200" dirty="0">
                <a:solidFill>
                  <a:schemeClr val="accent2">
                    <a:lumMod val="50000"/>
                  </a:schemeClr>
                </a:solidFill>
                <a:latin typeface="Castellar" panose="020A0402060406010301" pitchFamily="18" charset="0"/>
                <a:cs typeface="Times New Roman" panose="02020603050405020304" pitchFamily="18" charset="0"/>
              </a:rPr>
              <a:t>Sábado: Leche, Galletas integrales con queso fundido.</a:t>
            </a:r>
          </a:p>
          <a:p>
            <a:r>
              <a:rPr lang="es-ES" sz="1200" dirty="0">
                <a:solidFill>
                  <a:schemeClr val="accent2">
                    <a:lumMod val="50000"/>
                  </a:schemeClr>
                </a:solidFill>
                <a:latin typeface="Castellar" panose="020A0402060406010301" pitchFamily="18" charset="0"/>
                <a:cs typeface="Times New Roman" panose="02020603050405020304" pitchFamily="18" charset="0"/>
              </a:rPr>
              <a:t>Zumo. </a:t>
            </a:r>
          </a:p>
          <a:p>
            <a:r>
              <a:rPr lang="es-ES" sz="1200" dirty="0">
                <a:solidFill>
                  <a:schemeClr val="accent2">
                    <a:lumMod val="50000"/>
                  </a:schemeClr>
                </a:solidFill>
                <a:latin typeface="Castellar" panose="020A0402060406010301" pitchFamily="18" charset="0"/>
                <a:cs typeface="Times New Roman" panose="02020603050405020304" pitchFamily="18" charset="0"/>
              </a:rPr>
              <a:t>Crema de verduras. </a:t>
            </a:r>
          </a:p>
          <a:p>
            <a:r>
              <a:rPr lang="es-ES" sz="1200" dirty="0">
                <a:solidFill>
                  <a:schemeClr val="accent2">
                    <a:lumMod val="50000"/>
                  </a:schemeClr>
                </a:solidFill>
                <a:latin typeface="Castellar" panose="020A0402060406010301" pitchFamily="18" charset="0"/>
                <a:cs typeface="Times New Roman" panose="02020603050405020304" pitchFamily="18" charset="0"/>
              </a:rPr>
              <a:t>Arroz blanco con huevo frito y salsa de tomate. </a:t>
            </a:r>
          </a:p>
          <a:p>
            <a:r>
              <a:rPr lang="es-ES" sz="1200" dirty="0">
                <a:solidFill>
                  <a:schemeClr val="accent2">
                    <a:lumMod val="50000"/>
                  </a:schemeClr>
                </a:solidFill>
                <a:latin typeface="Castellar" panose="020A0402060406010301" pitchFamily="18" charset="0"/>
                <a:cs typeface="Times New Roman" panose="02020603050405020304" pitchFamily="18" charset="0"/>
              </a:rPr>
              <a:t>Plátano </a:t>
            </a:r>
          </a:p>
          <a:p>
            <a:r>
              <a:rPr lang="es-ES" sz="1200" dirty="0">
                <a:solidFill>
                  <a:schemeClr val="accent2">
                    <a:lumMod val="50000"/>
                  </a:schemeClr>
                </a:solidFill>
                <a:latin typeface="Castellar" panose="020A0402060406010301" pitchFamily="18" charset="0"/>
                <a:cs typeface="Times New Roman" panose="02020603050405020304" pitchFamily="18" charset="0"/>
              </a:rPr>
              <a:t>Domingo: Chocolate con pan tostado. </a:t>
            </a:r>
          </a:p>
          <a:p>
            <a:r>
              <a:rPr lang="es-ES" sz="1200" dirty="0">
                <a:solidFill>
                  <a:schemeClr val="accent2">
                    <a:lumMod val="50000"/>
                  </a:schemeClr>
                </a:solidFill>
                <a:latin typeface="Castellar" panose="020A0402060406010301" pitchFamily="18" charset="0"/>
                <a:cs typeface="Times New Roman" panose="02020603050405020304" pitchFamily="18" charset="0"/>
              </a:rPr>
              <a:t>Zumo</a:t>
            </a:r>
          </a:p>
          <a:p>
            <a:r>
              <a:rPr lang="es-ES" sz="1200" dirty="0">
                <a:solidFill>
                  <a:schemeClr val="accent2">
                    <a:lumMod val="50000"/>
                  </a:schemeClr>
                </a:solidFill>
                <a:latin typeface="Castellar" panose="020A0402060406010301" pitchFamily="18" charset="0"/>
                <a:cs typeface="Times New Roman" panose="02020603050405020304" pitchFamily="18" charset="0"/>
              </a:rPr>
              <a:t>Lentejas guisadas con arroz, patatas y zanahorias. </a:t>
            </a:r>
          </a:p>
          <a:p>
            <a:r>
              <a:rPr lang="es-ES" sz="1200" dirty="0">
                <a:solidFill>
                  <a:schemeClr val="accent2">
                    <a:lumMod val="50000"/>
                  </a:schemeClr>
                </a:solidFill>
                <a:latin typeface="Castellar" panose="020A0402060406010301" pitchFamily="18" charset="0"/>
                <a:cs typeface="Times New Roman" panose="02020603050405020304" pitchFamily="18" charset="0"/>
              </a:rPr>
              <a:t>Ensalada de pollo.</a:t>
            </a:r>
          </a:p>
          <a:p>
            <a:r>
              <a:rPr lang="es-ES" sz="1200" dirty="0">
                <a:solidFill>
                  <a:schemeClr val="accent2">
                    <a:lumMod val="50000"/>
                  </a:schemeClr>
                </a:solidFill>
                <a:latin typeface="Castellar" panose="020A0402060406010301" pitchFamily="18" charset="0"/>
                <a:cs typeface="Times New Roman" panose="02020603050405020304" pitchFamily="18" charset="0"/>
              </a:rPr>
              <a:t>Macedonia de frutas.</a:t>
            </a:r>
          </a:p>
          <a:p>
            <a:endParaRPr lang="es-ES" sz="800" dirty="0"/>
          </a:p>
        </p:txBody>
      </p:sp>
    </p:spTree>
    <p:extLst>
      <p:ext uri="{BB962C8B-B14F-4D97-AF65-F5344CB8AC3E}">
        <p14:creationId xmlns:p14="http://schemas.microsoft.com/office/powerpoint/2010/main" val="876506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1DE7243B-5109-444B-8FAF-7437C66BC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21332" cy="6858000"/>
          </a:xfrm>
          <a:custGeom>
            <a:avLst/>
            <a:gdLst>
              <a:gd name="connsiteX0" fmla="*/ 4421332 w 4421332"/>
              <a:gd name="connsiteY0" fmla="*/ 0 h 6858000"/>
              <a:gd name="connsiteX1" fmla="*/ 69075 w 4421332"/>
              <a:gd name="connsiteY1" fmla="*/ 0 h 6858000"/>
              <a:gd name="connsiteX2" fmla="*/ 35131 w 4421332"/>
              <a:gd name="connsiteY2" fmla="*/ 267128 h 6858000"/>
              <a:gd name="connsiteX3" fmla="*/ 0 w 4421332"/>
              <a:gd name="connsiteY3" fmla="*/ 962845 h 6858000"/>
              <a:gd name="connsiteX4" fmla="*/ 3276103 w 4421332"/>
              <a:gd name="connsiteY4" fmla="*/ 6782205 h 6858000"/>
              <a:gd name="connsiteX5" fmla="*/ 3407923 w 4421332"/>
              <a:gd name="connsiteY5" fmla="*/ 6858000 h 6858000"/>
              <a:gd name="connsiteX6" fmla="*/ 4421332 w 4421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21332" h="6858000">
                <a:moveTo>
                  <a:pt x="442133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442133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4C5D6221-DA7B-4611-AA26-7D8E349FD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232227" cy="6858000"/>
          </a:xfrm>
          <a:custGeom>
            <a:avLst/>
            <a:gdLst>
              <a:gd name="connsiteX0" fmla="*/ 0 w 4232227"/>
              <a:gd name="connsiteY0" fmla="*/ 0 h 6858000"/>
              <a:gd name="connsiteX1" fmla="*/ 4161853 w 4232227"/>
              <a:gd name="connsiteY1" fmla="*/ 0 h 6858000"/>
              <a:gd name="connsiteX2" fmla="*/ 4197953 w 4232227"/>
              <a:gd name="connsiteY2" fmla="*/ 284091 h 6858000"/>
              <a:gd name="connsiteX3" fmla="*/ 4232227 w 4232227"/>
              <a:gd name="connsiteY3" fmla="*/ 962844 h 6858000"/>
              <a:gd name="connsiteX4" fmla="*/ 758007 w 4232227"/>
              <a:gd name="connsiteY4" fmla="*/ 6800152 h 6858000"/>
              <a:gd name="connsiteX5" fmla="*/ 645060 w 4232227"/>
              <a:gd name="connsiteY5" fmla="*/ 6858000 h 6858000"/>
              <a:gd name="connsiteX6" fmla="*/ 0 w 423222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2227" h="6858000">
                <a:moveTo>
                  <a:pt x="0" y="0"/>
                </a:moveTo>
                <a:lnTo>
                  <a:pt x="4161853" y="0"/>
                </a:lnTo>
                <a:lnTo>
                  <a:pt x="4197953" y="284091"/>
                </a:lnTo>
                <a:cubicBezTo>
                  <a:pt x="4220617" y="507260"/>
                  <a:pt x="4232227" y="733696"/>
                  <a:pt x="4232227" y="962844"/>
                </a:cubicBezTo>
                <a:cubicBezTo>
                  <a:pt x="4232227" y="3483472"/>
                  <a:pt x="2827409" y="5675986"/>
                  <a:pt x="758007" y="6800152"/>
                </a:cubicBezTo>
                <a:lnTo>
                  <a:pt x="64506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184965A-E2BF-42D9-9D50-3321B11EE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412489"/>
            <a:ext cx="2871095" cy="2127124"/>
          </a:xfrm>
        </p:spPr>
        <p:txBody>
          <a:bodyPr anchor="t">
            <a:normAutofit/>
          </a:bodyPr>
          <a:lstStyle/>
          <a:p>
            <a:r>
              <a:rPr lang="es-ES" sz="3600">
                <a:solidFill>
                  <a:schemeClr val="bg1"/>
                </a:solidFill>
                <a:highlight>
                  <a:srgbClr val="C0C0C0"/>
                </a:highlight>
              </a:rPr>
              <a:t>Mi Merienda y Cena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EC7981-5536-434B-9722-393A9D4CB5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84542" y="168812"/>
            <a:ext cx="3440531" cy="6499274"/>
          </a:xfrm>
        </p:spPr>
        <p:txBody>
          <a:bodyPr>
            <a:normAutofit/>
          </a:bodyPr>
          <a:lstStyle/>
          <a:p>
            <a:r>
              <a:rPr lang="es-ES" sz="12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stellar" panose="020A0402060406010301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Lunes: Yogur y porción de fruta </a:t>
            </a:r>
          </a:p>
          <a:p>
            <a:r>
              <a:rPr lang="es-ES" sz="12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stellar" panose="020A0402060406010301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Puré de verduras.</a:t>
            </a:r>
          </a:p>
          <a:p>
            <a:r>
              <a:rPr lang="es-ES" sz="12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stellar" panose="020A0402060406010301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Pescado a la plancha con rodajas de tomate.</a:t>
            </a:r>
          </a:p>
          <a:p>
            <a:r>
              <a:rPr lang="es-ES" sz="12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stellar" panose="020A0402060406010301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Porción de fruta, Vaso de leche </a:t>
            </a:r>
          </a:p>
          <a:p>
            <a:r>
              <a:rPr lang="es-ES" sz="12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stellar" panose="020A0402060406010301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Martes: Bocadillo de jamón y queso </a:t>
            </a:r>
          </a:p>
          <a:p>
            <a:r>
              <a:rPr lang="es-ES" sz="12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stellar" panose="020A0402060406010301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Merluza al horno con patatas. </a:t>
            </a:r>
          </a:p>
          <a:p>
            <a:r>
              <a:rPr lang="es-ES" sz="12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stellar" panose="020A0402060406010301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Porción de fruta, Yogur. </a:t>
            </a:r>
          </a:p>
          <a:p>
            <a:r>
              <a:rPr lang="es-ES" sz="12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stellar" panose="020A0402060406010301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Miércoles: Bizcocho y zumo </a:t>
            </a:r>
          </a:p>
          <a:p>
            <a:r>
              <a:rPr lang="es-ES" sz="12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stellar" panose="020A0402060406010301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Fritura de pescado con guarnición de lechuga, tomate y zanahoria.</a:t>
            </a:r>
          </a:p>
          <a:p>
            <a:r>
              <a:rPr lang="es-ES" sz="12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stellar" panose="020A0402060406010301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Plátano</a:t>
            </a:r>
          </a:p>
          <a:p>
            <a:r>
              <a:rPr lang="es-ES" sz="12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stellar" panose="020A0402060406010301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Jueves: Almendras y manzana </a:t>
            </a:r>
          </a:p>
          <a:p>
            <a:r>
              <a:rPr lang="es-ES" sz="12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stellar" panose="020A0402060406010301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Sopa de fideos.</a:t>
            </a:r>
          </a:p>
          <a:p>
            <a:r>
              <a:rPr lang="es-ES" sz="12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stellar" panose="020A0402060406010301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Filete de pescado con ensalada. </a:t>
            </a:r>
          </a:p>
          <a:p>
            <a:r>
              <a:rPr lang="es-ES" sz="12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stellar" panose="020A0402060406010301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Porción de fruta ,</a:t>
            </a:r>
            <a:r>
              <a:rPr lang="es-ES" sz="12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stellar" panose="020A0402060406010301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Leche</a:t>
            </a:r>
            <a:endParaRPr lang="es-ES" sz="1200" dirty="0">
              <a:solidFill>
                <a:schemeClr val="accent2">
                  <a:lumMod val="40000"/>
                  <a:lumOff val="60000"/>
                </a:schemeClr>
              </a:solidFill>
              <a:latin typeface="Castellar" panose="020A0402060406010301" pitchFamily="18" charset="0"/>
            </a:endParaRP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D24DFC4-C08A-4DCF-8B4A-1D5181C720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51604" y="168812"/>
            <a:ext cx="3337122" cy="6358597"/>
          </a:xfrm>
        </p:spPr>
        <p:txBody>
          <a:bodyPr>
            <a:normAutofit/>
          </a:bodyPr>
          <a:lstStyle/>
          <a:p>
            <a:r>
              <a:rPr lang="es-ES" sz="13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stellar" panose="020A0402060406010301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Viernes: Bocadillo de pavo y kiwi </a:t>
            </a:r>
          </a:p>
          <a:p>
            <a:r>
              <a:rPr lang="es-ES" sz="13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stellar" panose="020A0402060406010301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Tortilla de patata con salsa de tomate. </a:t>
            </a:r>
          </a:p>
          <a:p>
            <a:r>
              <a:rPr lang="es-ES" sz="13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stellar" panose="020A0402060406010301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Porción de fruta,</a:t>
            </a:r>
            <a:r>
              <a:rPr lang="es-ES" sz="13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stellar" panose="020A0402060406010301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Leche</a:t>
            </a:r>
          </a:p>
          <a:p>
            <a:r>
              <a:rPr lang="es-ES" sz="13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stellar" panose="020A0402060406010301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Sábado: Porción de fruta y vaso de leche</a:t>
            </a:r>
          </a:p>
          <a:p>
            <a:r>
              <a:rPr lang="es-ES" sz="13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stellar" panose="020A0402060406010301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Sopa de verduras.</a:t>
            </a:r>
          </a:p>
          <a:p>
            <a:r>
              <a:rPr lang="es-ES" sz="13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stellar" panose="020A0402060406010301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Tortilla francesa con ensalada.</a:t>
            </a:r>
          </a:p>
          <a:p>
            <a:r>
              <a:rPr lang="es-ES" sz="13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stellar" panose="020A0402060406010301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Plátano ,Leche.</a:t>
            </a:r>
          </a:p>
          <a:p>
            <a:r>
              <a:rPr lang="es-ES" sz="13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stellar" panose="020A0402060406010301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Domingo :Yogur de frutas </a:t>
            </a:r>
          </a:p>
          <a:p>
            <a:r>
              <a:rPr lang="es-ES" sz="13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stellar" panose="020A0402060406010301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Pescado en salsa.</a:t>
            </a:r>
          </a:p>
          <a:p>
            <a:r>
              <a:rPr lang="es-ES" sz="13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stellar" panose="020A0402060406010301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Ensalada de frutas. </a:t>
            </a:r>
          </a:p>
          <a:p>
            <a:r>
              <a:rPr lang="es-ES" sz="13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stellar" panose="020A0402060406010301" pitchFamily="18" charset="0"/>
                <a:cs typeface="Times New Roman" panose="02020603050405020304" pitchFamily="18" charset="0"/>
              </a:rPr>
              <a:t>Yogur o vaso de leche</a:t>
            </a:r>
            <a:endParaRPr lang="es-ES" sz="1300" dirty="0">
              <a:solidFill>
                <a:schemeClr val="accent2">
                  <a:lumMod val="40000"/>
                  <a:lumOff val="60000"/>
                </a:schemeClr>
              </a:solidFill>
              <a:latin typeface="Castellar" panose="020A0402060406010301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19921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687</Words>
  <Application>Microsoft Office PowerPoint</Application>
  <PresentationFormat>Panorámica</PresentationFormat>
  <Paragraphs>75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Castellar</vt:lpstr>
      <vt:lpstr>Wingdings</vt:lpstr>
      <vt:lpstr>Tema de Office</vt:lpstr>
      <vt:lpstr>Alimentación para jugar Fútbol</vt:lpstr>
      <vt:lpstr>Come….Come…. Y Juega……..</vt:lpstr>
      <vt:lpstr>Se deben de realizar cinco comidas al día. De ellas tres deben ser más fuertes porque aportan energía y nutrientes, el desayuno, la comida de mediodía y la cena. Las otras dos comidas son de sostén y más ligeras. Deben ser comidas complementarias y en ellas se pueden aportar aquellos alimentos que requieren un mayor número de raciones diarias, como son la leche, la fruta y los cereales. </vt:lpstr>
      <vt:lpstr>MI DESAYUNO</vt:lpstr>
      <vt:lpstr>Mi Desayuno y Comida</vt:lpstr>
      <vt:lpstr>Mi Merienda y Cena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Alimentación para jugar Fútbol</dc:title>
  <dc:creator>RAMON A. CURBALAN</dc:creator>
  <cp:lastModifiedBy>RAMON A. CURBALAN</cp:lastModifiedBy>
  <cp:revision>2</cp:revision>
  <dcterms:created xsi:type="dcterms:W3CDTF">2020-09-09T16:05:04Z</dcterms:created>
  <dcterms:modified xsi:type="dcterms:W3CDTF">2021-12-30T13:48:32Z</dcterms:modified>
</cp:coreProperties>
</file>